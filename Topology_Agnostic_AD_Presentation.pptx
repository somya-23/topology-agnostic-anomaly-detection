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311" r:id="rId62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Topology-Agnostic Anomaly Detection</a:t>
            </a:r>
          </a:p>
          <a:p>
            <a:pPr algn="ctr">
              <a:defRPr sz="3600" b="1">
                <a:solidFill>
                  <a:srgbClr val="64B5F6"/>
                </a:solidFill>
              </a:defRPr>
            </a:pPr>
            <a:r>
              <a:t>in O-RAN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BDEFB"/>
                </a:solidFill>
              </a:defRPr>
            </a:pPr>
            <a:r>
              <a:t>Experimental Phase 0 -- 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0CAF9"/>
                </a:solidFill>
              </a:defRPr>
            </a:pPr>
            <a:r>
              <a:t>Somya | Under the guidance of Prof. Bheemarjuna Reddy Tamma</a:t>
            </a:r>
          </a:p>
          <a:p>
            <a:pPr algn="ctr">
              <a:defRPr sz="1600">
                <a:solidFill>
                  <a:srgbClr val="90CAF9"/>
                </a:solidFill>
              </a:defRPr>
            </a:pPr>
            <a:r>
              <a:t>IIT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 Why Topology Variance is a Problem -- Column Explosion &amp; Challenges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 Data Validation -- Normal vs Anomalous Baselines (Proof)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 Topology Impact Analysis -- How Faults Propagate Across Topologies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 Fault Detectability Analysis -- Easy vs Hard Faults &amp; Why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 Feature Selection &amp; Pairwise Row Formulation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 Model Selection -- IF vs AE vs BGMM, Distribution Shift, Multi-Topology Training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7.  Current Challenges &amp; Proposed Improvements (Residual Features)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8.  Temporal Analysis &amp; Data Collection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9.  Next Steps -- Challenges &amp; Research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The Topology Problem in O-RAN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different topologies make anomaly detection hard</a:t>
            </a:r>
          </a:p>
        </p:txBody>
      </p:sp>
      <p:pic>
        <p:nvPicPr>
          <p:cNvPr id="5" name="Picture 4" descr="topolo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2571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Problem: Each CU can have 1, 2, 3, ... N DUs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Raw data has 359 columns per topology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Adding 1 DU adds ~50 new columns (infra + radio)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ML models need FIXED input size!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Naive approach: Pad/truncate columns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-&gt; Wastes capacity, breaks correlations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-&gt; Model trained on 2-DU fails on 1-DU or 3-DU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Our 3 topologies: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CU0: 2 DUs (Training)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CU1: 1 DU  (Unseen -- zero siblings!)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CU2: 3 DUs (Unseen -- different scale)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669280"/>
            <a:ext cx="5029200" cy="7315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Key: Need a representation that works for ANY number of DUs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Column Explosion Problem -- Concrete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fixed-width input is impossible with raw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Topology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 Cols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 Cols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Radio Cols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Total Cols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Input Size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CU + 1 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CU + 2 DUs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CU + 3 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CU + 6 DUs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CU + N 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31N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16+47N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VARIABLE!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1: Variable input dimension -- cannot train one model for all topologies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2: Feature misalignment -- DU0's CPU column has no equivalent in 1-DU topology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3: Sibling context changes -- 0, 1, or 2+ siblings create fundamentally different feature distributions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4: CU metrics scale with N -- CU NET_TX is ~1.3 MB/s PER DU (proven linear)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Challenge 5: Fault localization -- which DU is faulty? All DUs share same CU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6217920"/>
            <a:ext cx="1097280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Solution: CU-DU Pair Representation -- fixed 22-feature vector regardless of topology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Data Validation -- Signal Strength (sigma-distance from normal)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Proof that anomalous data is genuinely different from normal baseline</a:t>
            </a:r>
          </a:p>
        </p:txBody>
      </p:sp>
      <p:pic>
        <p:nvPicPr>
          <p:cNvPr id="5" name="Picture 4" descr="sigma_heatmap_T1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0"/>
            <a:ext cx="3931920" cy="2743200"/>
          </a:xfrm>
          <a:prstGeom prst="rect">
            <a:avLst/>
          </a:prstGeom>
        </p:spPr>
      </p:pic>
      <p:pic>
        <p:nvPicPr>
          <p:cNvPr id="6" name="Picture 5" descr="sigma_heatmap_T2_M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188720"/>
            <a:ext cx="3931920" cy="2743200"/>
          </a:xfrm>
          <a:prstGeom prst="rect">
            <a:avLst/>
          </a:prstGeom>
        </p:spPr>
      </p:pic>
      <p:pic>
        <p:nvPicPr>
          <p:cNvPr id="7" name="Picture 6" descr="sigma_heatmap_T3_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188720"/>
            <a:ext cx="393192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How to read: Each cell = |mean_anomaly - mean_normal| / std_normal. Higher = stronger signal.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T1_CPU: du_cpu_pct = 50 sigma, radio_ul_brate = +29 sigma (INCREASES -- reporting artifact, see slide 2b)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T2_MEM: du_fs_write = 50 sigma (OOM cycling causes disk thrashing), du_cpu_pct = 24-29 sigma (only in srsdu0-2)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T3_NET: radio_ul_brate = +71 sigma (INCREASES), radio_bsr = +57 sigma, du_net_tx DECREASES 85%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PROOF: Anomalous data is 25-70 standard deviations away from normal -- clearly distinguishable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217920"/>
            <a:ext cx="114300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Conclusion: Normal and anomalous baselines are CLEARLY different. The data is valid for anomaly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Data Validation -- Normal vs Anomalous Metric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Concrete numbers proving the baselines are distinct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Normal (raw)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T1_CPU (DU direct)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T2_MEM (DU direct)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T3_NET (DU direct)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CPU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273.7% (+133%)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193.4% (+64%)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88.3% (-25%)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NET TX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162.5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79.9 MB/s (-51%)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153.7 MB/s (-5%)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25.1 MB/s (-85%)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FS 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~2.8 KB/s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~2.2 KB/s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12.1 MB/s (OOM!)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~2.1 KB/s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Memory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2.40 GB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2.51 GB (+5%)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2.98 GB (+24%)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1.83 GB (-24%)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Radio ul_brate*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30.2 Mbps (+140%)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13.2 Mbps (+5%)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50.7 Mbps (+303%)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Radio BSR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11.3 K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36.7 K (+225%)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11.6 K (+3%)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449.6 K (+3884%)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CPU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10.9% (same)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10.9% (same)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10.9% (same)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NET TX/DU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 MB/s/DU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1.31 MB/s (-1%)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1.33 MB/s (+1%)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1.29 MB/s (-2%)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4864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*ul_brate INCREASES during stress -- likely a reporting artifact (DU stressed -&gt; metric reporting delayed -&gt; accumulated bits in one report).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HARQ retransmissions = 0 always (radio link perfect in lab). ul_nof_ok also increases (+78% T1, +177% T3).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The REAL degradation indicator is DU NET TX drop (-51% T1, -85% T3) and BSR increase (+225% T1, +3884% T3).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CU metrics barely change during DU faults (CU CPU stays at 10.9%) -- explains why CU fault detection is hard.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2b. ul_brate Reporting Artifact -- Data-Verified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does radio uplink bitrate INCREASE during DU stress? (UDP traffic, no TCP retransmissions)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Surprising finding: ul_brate INCREASES during stress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We inject UDP traffic (iperf3 -u), so NO TCP retransmissions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HARQ retransmissions = 0 always (ul_nof_nok = 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Radio link is perfect in lab environment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Yet ul_brate: Normal 12.6 Mbps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T1_CPU: 30.2 Mbps (+140%)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T3_NET: 50.7 Mbps (+303%)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84048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T1_CPU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T3_NET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ul_brate stale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75.6%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Max stale run length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Avg stale run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4.09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ul_brate + nof_ok stale together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75.6%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Infra metric (cadvisor) stale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bits per HARQ tx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88,558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118,997 (+34%)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127,492 (+44%)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Root cause: srsRAN metric update staleness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Prometheus scrapes every 1s (timestamps constant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at 1.001s). But srsRAN stops updating values: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ALL radio KPIs go stale together (UL+DL+SNR).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Infra metrics (cadvisor): 34% stale always -&gt; OK.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-&gt; Problem is srsRAN-specific, not Prometheus.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Different mechanism per fault type: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T1_CPU: CPU starvation -&gt; metric thread can't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  run. DU CPU: 117% -&gt; 274%. Stale: 15.6%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T3_NET: Data starvation -&gt; DU NET drops 85%,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  srsRAN processes fewer packets, metric loop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  has nothing new to report. DU CPU DROPS to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  88%. Stale: 75.6%, runs up to 9 scrapes.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T2_MEM: OOM kill -&gt; process restarts -&gt; 0% stale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bits_per_HARQ confirms accumulated reporting: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Normal: 88.6K, T1: 119K (+34%), T3: 127K (+44%)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Staleness rate as NEW FEATURE (free to compute):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staleness = count(diff==0) / window_size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 Normal=0%, T1=16%, T3=76%. Strong signal!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Topology Impact -- How Faults Propagate Across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Do siblings show similar behavior? Does topology size matter?</a:t>
            </a:r>
          </a:p>
        </p:txBody>
      </p:sp>
      <p:pic>
        <p:nvPicPr>
          <p:cNvPr id="5" name="Picture 4" descr="if_feature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148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WITHIN a topology, siblings show SIMILAR behavior: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T1_CPU: srsdu3/4/5 all show ~47-50 sigma on du_cpu_pct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T3_NET: srsdu3/4/5 all show ~25-30 sigma on du_net_tx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Consistent across DUs under same CU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This validates: sibling DUs under same CU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experience same baseline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ACROSS topologies, signal strengths VARY: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T2_MEM: du_cpu_pct = 29 sigma (srsdu1) vs 0.7 sigma (srsdu3)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CU1 (1-DU): Always 100% -- zero-sibling distribution issue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CU2 (3-DU): Higher FPR (~12%) due to different CU load profile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Implication: A model trained on one topology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must generalize to different sibling counts &amp; CU loads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The CU1 Generalization Failure -- Zero Siblings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1-DU topology breaks both models</a:t>
            </a:r>
          </a:p>
        </p:txBody>
      </p:sp>
      <p:pic>
        <p:nvPicPr>
          <p:cNvPr id="5" name="Picture 4" descr="cu1_failure_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4008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CU0 (training): num_siblings = 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sibling_cpu = 117%, sibling_net_tx = 162 MB/s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CU1 (unseen): num_siblings = 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sibling_cpu = 0, sibling_net_tx = 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8 features are ALL ZEROS!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Both IF and AE: 100% FPR on CU1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Zero-sibling vector is fundamentally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different from training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114800"/>
            <a:ext cx="11430000" cy="64008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Root Cause: Sibling features create topology-dependent distribution. Need representation that doesn't depend on siblings.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Indirect False Alarm Problem (when sibling DU is stressed, pair gets flagged):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 false alarm: 77-90% across topologies | AE false alarm: 100% across all topologies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When DU0 is stressed, CU0-DU1 pair's sibling features show DU0's anomalous values -&gt; false positive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Current representation CANNOT distinguish 'my CU is faulty' (should flag) from 'my sibling is faulty' (should NOT flag)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Fault Detectability -- Which Faults Are Easy vs Hard?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IF detection rates @ 99th percentile threshold</a:t>
            </a:r>
          </a:p>
        </p:txBody>
      </p:sp>
      <p:pic>
        <p:nvPicPr>
          <p:cNvPr id="5" name="Picture 4" descr="if_dete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25603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9319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Fault Type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Detection Rate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Difficulty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Why?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T1 CPU (DU direct)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du_cpu_pct jumps +100%, massive 50-sigma signal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T3 NET (DU direct)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radio_ul_brate drops to 0, 50-sigma signal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T2 MEM (DU direct)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70-99%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OOM cycling variable; srsdu3-5 only 0.7 sigma on CPU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T1 CPU (CU fault)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31-32%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Only 5/22 features change; DU still runs normally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T3 NET (CU 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6-12%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VERY HARD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NET_TX drops but DU compensates; subtle signal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T2 MEM (CU fault)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15-28%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memory barely rises; minimal propagation to DU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Why CU Faults Are Hard -- The 5/22 Feature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Only 23% of the pair vector is anomalous during CU faults</a:t>
            </a:r>
          </a:p>
        </p:txBody>
      </p:sp>
      <p:pic>
        <p:nvPicPr>
          <p:cNvPr id="5" name="Picture 4" descr="if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858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DU fault: 8-13/22 features anomalous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IF easily isolates (short path)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CU fault: only 5/22 features anomalous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cu_cpu_pct, cu_mem_bytes, cu_net_tx_per_du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Focal DU features: NORMAL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Sibling features: NORMAL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IF: not enough anomalous features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to distinguish from normal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Score overlap visible in box plots: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CU_fault (purple) overlaps with Normal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T1_CPU/T3_NET (red/blue)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029200"/>
            <a:ext cx="1143000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Combined TPR = (direct_detected + cu_detected) / (direct + cu). CU detection drags down overall TPR from 99% to 53-67%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852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Example: CU0-DU1 T1_CPU = 65.6% combined TPR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Direct T1: 179/180 = 99.4% | CU T1: 57/180 = 31.7% | Combined: (179+57)/360 = 65.6%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CU-DU Pair Representation -- Fixed-Size Feature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Mathematical formulation for topology-agnostic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Key Idea: Instead of one row per timestamp (variable width), create one row per CU-DU pair per timestamp (fixed width)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Each pair is a fixed 22-dimensional vector regardless of how many DUs exist in the topology: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9260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cpu_pct, mem_bytes, net_tx_per_du,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net_rx, fs_read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health; net_tx divided by N DUs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for topology normalization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Focal DU Infra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cpu_pct, mem_bytes, net_tx,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fs_write, fs_read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Direct health of THIS specific DU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Focal DU Radio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ul_brate, bsr, ul_nof_ok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Radio KPIs from DU's PCI/RNTI;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most sensitive to faults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Sibling DU Infra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mean(cpu_pct), mean(mem_bytes),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mean(net_tx), mean(fs_write), mean(fs_read)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Average of all OTHER DUs under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 CU (0 if no siblings)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Sibling DU Radio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mean(ul_brate), mean(bsr),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mean(ul_nof_ok)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Average radio KPIs of siblings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Topology Context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num_siblings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INTEGER (0,1,2,...), NOT binary.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Encodes exact topology size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6217920"/>
            <a:ext cx="1143000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 timestamp x 6 pairs = 6 rows x 22 features. Train pairs: 52,716. Test pairs: 99,918.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Mathematical Justification -- Why These 22 Features?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Feature selection based on discriminative power and redundancy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Starting point: 359 raw columns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Step 1: Remove zero-variance (128 cols)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Constant values = no information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Step 2: Remove near-duplicates (78 cols)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sum(irate(...)) = irate(...) per instance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when only 1 instance exists per container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Step 3: Remove leaking labels (18 cols)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stressType, stepStress columns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Step 4: Remove constant counters (6 cols)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node_boot_time, machine_cpu_cores (same host)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Step 5: Select discriminative metrics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Based on sigma-distance during faults: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Keep features with sigma &gt; 3 for any fault type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Result: 13 infra + 3 radio = 16 per pair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sibling features? (8 features)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Provides context about peer DU health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Enables: 'Is this DU different from its peers?'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Problem: Also leaks sibling fault info (77-90% FPR)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CU NET_TX / N? (normalization)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CU0: 2 DUs -&gt; NET_TX = 2.6 MB/s (1.3/DU)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CU2: 3 DUs -&gt; NET_TX = 3.9 MB/s (1.3/DU)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Without normalization: CU2 looks anomalous vs CU0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With normalization: both = 1.3 MB/s/DU (comparable)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num_siblings? (1 feature)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Tells model whether sibling_mean = 0 means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'no siblings exist' vs 'siblings are idle'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Without it: 0 is ambiguous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Do we NEED sibling features?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Current evidence: They HURT more than help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77-90% indirect false alarm rate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Next step: Replace with residual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Labeling Scheme -- Binary vs 4-Level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How we define anomaly for each CU-DU pair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 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stress anywhere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Normal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Healthy pair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 (Direct)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Focal DU is stressed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Anomaly (1)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This DU is broken -- flag it!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 (Indirect)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Sibling DU is stressed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Normal 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This DU is fine -- DON'T flag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(CU Fault)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Parent CU is stressed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Anomaly (1)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broken -&gt; affects all its DUs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Terminology: Positive = Anomaly, Negative = Normal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True Positive (TP): correctly detected anomaly | False Positive (FP) = FALSE ALARM: normal flagged as anomaly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True Negative (TN): correctly identified normal | False Negative (FN) = MISSED DETECTION: anomaly missed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NOT flag indirect (sibling) faults?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If DU0 is stressed, only CU0-DU0 pair should be flagged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Flagging CU0-DU1 = FALSE ALARM (FP) -- hurts fault LOCALIZATION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flag CU faults for ALL DU pairs under that CU?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 is shared infrastructure -- if CU is down, ALL DUs are affected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5b. Experiment: What if Sibling = Anomaly?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Does treating sibling-stressed rows as anomalous improve detection?</a:t>
            </a:r>
          </a:p>
        </p:txBody>
      </p:sp>
      <p:pic>
        <p:nvPicPr>
          <p:cNvPr id="5" name="Picture 4" descr="exclusive_vs_inclusive_lab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2286000"/>
          </a:xfrm>
          <a:prstGeom prst="rect">
            <a:avLst/>
          </a:prstGeom>
        </p:spPr>
      </p:pic>
      <p:pic>
        <p:nvPicPr>
          <p:cNvPr id="6" name="Picture 5" descr="fpr_exclusive_vs_inclus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57600"/>
            <a:ext cx="64008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36576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When sibling = ANOMALY (inclusive):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T1_CPU: 66.7% -&gt; 77.6% (+11% improvement)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T3_NET: 53.1% -&gt; 68.5% (+15% improvement)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FPR: 5.6% -&gt; 3.0% (HALVED!)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FPR unseen: 11.8% -&gt; 6.2% (HALVED!)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WHY does FPR drop?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Previously: sibling stressed = normal (label=0)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But model flags it -&gt; counted as false positive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Now: sibling stressed = anomaly (label=1)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Model flags it -&gt; counted as true positive!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BUT: We lose fault LOCALIZATION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Cannot tell WHICH DU is faulty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Only know 'something in this CU group is wrong'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Model Comparison -- Isolation Forest vs AutoEncoder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we chose IF over AE for Phase 0</a:t>
            </a:r>
          </a:p>
        </p:txBody>
      </p:sp>
      <p:pic>
        <p:nvPicPr>
          <p:cNvPr id="5" name="Picture 4" descr="if_vs_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2286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6576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AutoEncoder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(seen topology)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IF (8x better)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(unseen 3-DU)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(unseen 1-DU)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TIE (both fail)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T1 Direct Detection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~TIE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T3 Direct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99%+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~TIE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Interpretability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 (path length)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Low (MSE)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Robustness to drift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Fragile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AUROC (mean)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0.891-0.982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AE (higher AUROC)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Why the AutoEncoder Fails --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Distribution shift + tight bottleneck = catastrophic FPR</a:t>
            </a:r>
          </a:p>
        </p:txBody>
      </p:sp>
      <p:pic>
        <p:nvPicPr>
          <p:cNvPr id="5" name="Picture 4" descr="ae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4008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Left: MSE distributions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Val normal &lt;&lt; Test normal &lt;&lt; Test anomaly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Threshold from val doesn't transfer!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Right: Per-feature error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focal_du_fs_read: 0.000001 -&gt; 106.6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(100 MILLION times increase!)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sib_du_fs_read: similar explosion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2336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Root Cause 1: Too tight bottleneck -- 22-&gt;16 = 73% compression forces memorization of specific feature correlations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Root Cause 2: Global scaler amplifies drift -- Features with low training variance get disproportionate reconstruction error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Root Cause 3: No temporal robustness -- Threshold calibrated on same-session validation, doesn't transfer to different sessions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This is a MODEL problem, not a DATA problem. IF handles the SAME data with 5.6% FPR.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AE has higher AUROC (0.98 for CU1) but this is misleading -- ranking is good but the THRESHOLD doesn't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ROC Curves &amp; FPR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AE has good ranking (AUROC) but terrible threshold transfer</a:t>
            </a:r>
          </a:p>
        </p:txBody>
      </p:sp>
      <p:pic>
        <p:nvPicPr>
          <p:cNvPr id="5" name="Picture 4" descr="roc_curve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0"/>
            <a:ext cx="6400800" cy="2743200"/>
          </a:xfrm>
          <a:prstGeom prst="rect">
            <a:avLst/>
          </a:prstGeom>
        </p:spPr>
      </p:pic>
      <p:pic>
        <p:nvPicPr>
          <p:cNvPr id="6" name="Picture 5" descr="fp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114800"/>
            <a:ext cx="64008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ROC Curves (top):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IF: All topologies cluster AUC 0.88-0.93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AE: Higher AUC (0.89-0.98) BUT...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CU1 (purple) AUC=0.93/0.98 yet FPR=100%!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AUROC is MISLEADING here because: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It measures ranking quality (can scores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separate normal from anomaly?)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But we need a THRESHOLD that works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across topologies -- AE can't do this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FPR Comparison (bottom):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IF: 5.6% seen, 11.8% unseen (3-DU)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AE: 44% seen, 100% unseen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 is 8x better on seen topology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and infinitely better on unseen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Conclusion: IF is the clear winner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for Phase 0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6b. Why Not BGMM? -- Bayesian Gaussian Mixture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Tested BGMM as density-based anomaly detector</a:t>
            </a:r>
          </a:p>
        </p:txBody>
      </p:sp>
      <p:pic>
        <p:nvPicPr>
          <p:cNvPr id="5" name="Picture 4" descr="bgmm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400800" cy="2560320"/>
          </a:xfrm>
          <a:prstGeom prst="rect">
            <a:avLst/>
          </a:prstGeom>
        </p:spPr>
      </p:pic>
      <p:pic>
        <p:nvPicPr>
          <p:cNvPr id="6" name="Picture 5" descr="if_vs_bgmm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931920"/>
            <a:ext cx="640080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BGMM: Models normal data as mixture of Gaussians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Score = -log P(x) (negative log-likelihood)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Anomaly = low probability under learned density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Tested n_components: 3, 5, 8, 12, 16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Best: 16 components (11 effective)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Uses Dirichlet Process prior (auto-prunes)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393192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BGMM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AutoEncoder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(seen)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44.1%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(unseen 3-DU)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FPR (unseen 1-DU)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TPR (all)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53-67%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AUROC (seen)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0.891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6126480"/>
            <a:ext cx="11430000" cy="5486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BGMM fails for the SAME reason as AE: density estimation is sensitive to distribution shift. BGMM FPR=42% ~ AE FPR=44%. IF's random splits are inherently more robust.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6b. Why Density-Based Models (BGMM, AE) Fail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Mathematical intuition: density estimation vs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BGMM models P(x) = sum_k pi_k * N(x | mu_k, Sigma_k)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Problem 1: Covariance estimation in 22D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Full covariance matrix = 22*23/2 = 253 params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per component. With 16 components = 4048 params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Training data (CU0 only): ~14K samples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Overfits to CU0-specific correlations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Problem 2: Curse of dimensionality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In 22D, Gaussian tails decay exponentially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Even small distributional shift between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train/test -&gt; massive NLL increase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e.g., 0.5-sigma shift across 22 features: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NLL increase ~ 22 * 0.5^2 / 2 = 2.75 nats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This exceeds the threshold -&gt; FPR explosion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IF is fundamentally different: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 doesn't estimate P(x)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It measures 'isolation depth':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How many random splits to isolate x?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Random splits are ROBUST because: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Each tree uses random feature subsets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Small value shifts don't change split order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- 200-tree ensemble averages out sensitivity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Non-parametric: no covariance to overfit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Analogy: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BGMM/AE ask: 'Does x look like training data?'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IF asks: 'Is x easy to isolate from the crowd?'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 normal point from unseen topology 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NOT easy to isolate (mixes with crowd)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even though its DENSITY is different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6c. Distribution Shift -- Why AE/BGMM Fail Despite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We verified distributions look similar, yet models fail. Here is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What we checked before training: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Histograms of each feature: train vs test look similar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Mean/std: within 2-5% of each other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 Same data collection setup, same testbed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So WHY do AE and BGMM fail?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The scaler AMPLIFIES small raw differences: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StandardScaler is fit on ALL training pairs (6 topos)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CU0 features have very low variance in training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Small raw drift becomes massive in scaled space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Example: focal_du_fs_read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Train (raw): mean=1234 bytes, std=15 bytes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Test (raw): mean=1260 bytes (+2% -- looks fine!)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Train (scaled): mean=-0.09, std=0.003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Test (scaled): mean=+1.57, std=10.2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--&gt; +1.7 sigma shift, 3000x variance explosion!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Per-feature scaled distribution shift: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focal_du_mem_bytes: -4.6 sigma shift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sib_du_fs_read: +2.4 sigma, 3600x variance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cu_cpu_pct: +0.85 sigma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cu_net_tx_per_du: +0.51 sigma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IF survives but AE/BGMM don't: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AE: Must reconstruct EXACT values. 0.5-sigma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shift across 22 features -&gt; cumulative MSE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explodes. Per-feature error: du_fs_read went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from 0.000001 -&gt; 106.6 (100M x increase!)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BGMM: P(x) drops exponentially with shift.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22-dim Gaussian: 0.5-sigma shift per feature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-&gt; NLL increase ~ 22 * 0.5^2/2 = 2.75 nats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IF: Random feature splits. Small value shifts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don't change isolation path length. 200-tree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ensemble averages out sensitivity.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217920"/>
            <a:ext cx="11430000" cy="4572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Lesson: 'Distributions look similar' in raw space does NOT guarantee model robustness. Scaler amplification + reconstruction/density sensitivity = FPR explosion.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6c. Can We Fix Density Models with a Better Scaler?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StandardScaler amplifies drift. What are the alternatives?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Scaler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it works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Helps?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/ Why not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StandardScaler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(current)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x' = (x - mean) / std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Low-variance features get huge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scaled shifts from tiny raw changes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RobustScaler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x' = (x - median) / IQR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Less sensitive to outliers, but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still amplifies low-IQR features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MinMaxScaler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x' = (x - min) / (max -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Even worse: unseen values outside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[min,max] create huge scaled values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QuantileTransform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Maps to uniform/normal CDF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Robust to shape, but small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quantile shifts still accumulate in 22D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Per-topology scaler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Separate scaler per CU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but...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Fixes drift per topology, but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breaks topology-agnostic goal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scaler + IF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Use raw features with IF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IF is tree-based, scale-invariant.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Doesn't need scaling at all!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57200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The fundamental problem is NOT the scaler -- it is that density models (AE, BGMM) require exact value matching.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AE reconstructs x: any shift in feature distribution -&gt; cumulative MSE increase across 22 dimensions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BGMM estimates P(x): any shift -&gt; exponential NLL increase in 22 dimensions (curse of dimensionality)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No scaler can fix this -- the sensitivity is inherent to the model class.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IF is fundamentally different: it measures 'how hard to isolate' (random splits), not exact values.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Small value shifts don't change isolation path length. 200-tree ensemble averages out sensitivity.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Recommendation: Train IF on RAW (unscaled) features. Scaling is unnecessary and can only hurt.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6309360"/>
            <a:ext cx="114300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If density model is needed for fault localization: use per-topology scaler + wider bottleneck AE, OR use multi-head AE on raw features with IF for detection.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6d. Multi-Topology Training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Does including more topologies in training help?</a:t>
            </a:r>
          </a:p>
        </p:txBody>
      </p:sp>
      <p:pic>
        <p:nvPicPr>
          <p:cNvPr id="5" name="Picture 4" descr="multi_topology_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2286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657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Training Config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CU0 FPR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CU1 FPR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CU2 FPR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FPR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AUROC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 TPR (CU0)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CU0 only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66.7%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CU0 + CU1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6.2%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0.906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55.6%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CU0 + CU2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14.8%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ALL (CU0+CU1+CU2)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6126480"/>
            <a:ext cx="1143000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Trade-off: More diverse training data REDUCES false alarms (FPR: 24.6% -&gt; 7.1%) but also REDUCES detection power (T1 TPR: 66.7% -&gt; 10.3%). Best balance: CU0+CU1 (FPR=7.9%, AUROC=0.906).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6d. Multi-Topology Detection Heatmaps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Per-stress detection rates for each training configuration</a:t>
            </a:r>
          </a:p>
        </p:txBody>
      </p:sp>
      <p:pic>
        <p:nvPicPr>
          <p:cNvPr id="5" name="Picture 4" descr="multi_topology_detec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864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Key findings: (1) Including CU1 (1-DU) fixes CU1 FPR from 100% to 21% -- model learns zero-sibling distribution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(2) Including CU2 (3-DU) alone HURTS -- too much variance confuses IF without fixing CU1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(3) ALL topologies: lowest FPR but IF becomes insensitive -- normal data too diverse, anomalies harder to isolate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(4) CU0+CU1 is the optimal compromise for current testbed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Current Challenges -- What Needs to Be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Before proposing architecture, understand the problems deeply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486400" cy="4572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 1: CU fault detection is weak (6-32% TPR)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WHY: Only 5/22 features change during CU fault. DU features stay normal.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IF treats all 22 features equally -- 5 anomalous out of 22 isn't enough to isolate.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This is a REPRESENTATION problem, not a model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943600" cy="4572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 2: Indirect false alarms = 77-90%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WHY: When DU0 is stressed, CU0-DU1's sibling features show DU0's anomalous values.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IF sees 8 anomalous sibling features -&gt; flags the pair -&gt; false alarm.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Cannot distinguish 'my CU is faulty' from 'my sibling is faulty'.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5486400" cy="4572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 3: Zero-sibling topology breaks model (100% FPR)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023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WHY: CU1 has 0 siblings -&gt; 8 sibling features are ALL zeros.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Model trained on CU0 (1 sibling) never saw this pattern.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Even including CU1 in training only reduces FPR to 21%, not 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474720"/>
            <a:ext cx="5943600" cy="4572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 4: Distribution shift kills density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02336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WHY: AE and BGMM estimate exact density/reconstruction of training data.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Even 2% raw drift -&gt; amplified by scaler -&gt; FPR explosion.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Only IF survives because it doesn't estimate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394960"/>
            <a:ext cx="1143000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Common root cause: Challenges 1, 2, 3 ALL stem from sibling features. Removing them solves 3 problems at once. Challenge 4 requires a fundamentally different model class (isolation-based, not density-based).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Approach: Replace sibling features with CU-DU residuals that are topology-invariant and don't leak fault info.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Residual Features -- Concrete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What residual = CU_metric/N - DU_metric means and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Residual Feature: r = (CU_NET_TX / N) - DU_NET_TX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Intuition: If CU is sending data equally to all DUs, each DU's traffic should match CU/N. If not, something is wrong.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68880"/>
            <a:ext cx="5486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NORMAL state: residual is near-zero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9260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CU0 (2 DUs)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CU2 (3 DUs)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NET_TX (raw)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2.6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3.9 MB/s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NET_TX / 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NET_TX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0" y="2468880"/>
            <a:ext cx="59436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ANOMALY: residual spikes (different per fault type)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292608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CU/N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 TX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Residual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stressed (T1_CPU)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+0.8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slowed down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stressed (T3_NET)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+1.1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lost packets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stressed (T1_CPU)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-0.8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slowed down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Sibling stressed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-0.3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Small (sibling effect)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74320" y="50292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residuals fix Challenge 1 (CU fault detection):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Currently only 5/22 features change. With residuals, CU fault also makes r spike -&gt; 7/15 features now anomalous -&gt; 47% vs 23%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residuals fix Challenge 2 (indirect false alarms):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Sibling features are REMOVED entirely. No way for sibling's fault to leak into this pair's vector.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WHY residuals fix Challenge 3 (zero-sibling):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Residual = CU/N - DU works for ANY N. No sibling features to be zero. CU/1 = CU for 1-DU topology.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Proposed Approach -- Why Multi-Head AE?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Addressing each challenge with a specific design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New 15-feature pair vector: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[CU_feats(5) | DU_infra(5) | DU_radio(3) | residuals(2)]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Multi-Head AE instead of plain IF?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IF works well for detection but cannot LOCALIZE faults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Multi-head AE gives separate reconstruction errors: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e_du -&gt; DU fault confidence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e_cu -&gt; CU fault confidence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e_res -&gt; CU-DU consistency anomaly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This gives operator: WHAT is wrong + WHERE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Architecture: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Encoder: 15 -&gt; 32 -&gt; 16 (shared)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Decoder_DU: 16 -&gt; 32 -&gt; 8 (DU infra+radio)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Decoder_CU: 16 -&gt; 32 -&gt; 5 (CU features)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Decoder_RES: 16 -&gt; 32 -&gt; 2 (residual features)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Loss: L = MSE_du + MSE_cu + 5 * MSE_res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5x weight on residuals: forces encoder to learn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CU-DU relationship, not ignore small residuals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114300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But first: We need to validate residual features work with IF before building complex AE. Simple improvements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4805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Validation plan (incremental, not jumping to complex architecture):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Step 1: Compute residual features from existing data. Check: do residuals spike during faults?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Step 2: Train IF on 15-feature vector (drop 8 sibling, add 2 residual). Compare FPR and TPR to current 22-feature IF.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Step 3: If residuals help IF, THEN build multi-head AE for fault localization capability.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Step 4: Compare multi-head AE vs IF on 15-feature vector. Does AE's localization justify its complexity?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Temporal Analysis -- Deeper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Metric spikes, windows, IF's feature relationships, and traffic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Q: Are there spikes in metrics that a point-wise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model would miss?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Stress injection lasts 180 seconds continuously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At 1-second resolution, we get 180 data points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per fault injection -- plenty for point-wise model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Stress is NOT intermittent -- no spikes to miss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BUT: OOM cycling (T2_MEM) creates periodic spikes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~every 0.6 seconds. At 1s resolution, aliasing occurs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some samples catch the spike, others don't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explains variable T2 detection (28-100%)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Q: Does IF learn metric RELATIONSHIPS or just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individual thresholds?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IF uses random feature subsets per tree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implicitly captures multi-feature patterns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e.g., 'CPU high + NET_TX low' (T1_CPU signature)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This is why IF detects CU faults better than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simple z-score thresholding on individual features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BUT: IF doesn't learn explicit correlations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like 'CU_NET_TX should equal sum of DU_NET_TX'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Residual features make this relationship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explicit, which should help CU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Q: What about traffic variation robustness?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Current data: constant UE traffic (iperf3)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Real-world: traffic varies by time of day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 spike in NET_TX could be normal (busy hour)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or anomalous (fault propagation)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Point-wise model CANNOT distinguish these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This is where temporal context would help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Also motivates longer data collection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with variable traffic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Q: Should we use windowed features?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Options: rolling mean/std over 5s, 10s, 30s windows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Pro: smooths OOM cycling noise, captures trends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Con: adds latency to detection (window-size delay)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Verdict: Worth trying AFTER fixing representation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Priority order: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1. Fix features (residuals, drop siblings)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2. Try windowed features (low-hanging fruit)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3. Full temporal model (LSTM) only if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217920"/>
            <a:ext cx="114300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Temporal is NOT the bottleneck. The 50-sigma signals don't need temporal context. Fix the representation first, then explore temporal for edge cases.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8b. Stress Sufficiency -- Verified with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Are our fault injections causing visible RAN performance degradation?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T1_CPU (DU)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T2_MEM (DU)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T3_NET (DU)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T1_CPU (CU)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CPU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117.6%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273.7% (+133%)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193.4% (+64%)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88.3% (-25%)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NET TX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162.5 MB/s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79.9 MB/s (-51%)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153.7 MB/s (-5%)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25.1 MB/s (-85%)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FS 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2.8 KB/s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2.2 KB/s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12.1 MB/s (OOM!)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2.1 KB/s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 Memory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2.40 GB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2.51 GB (+5%)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2.98 GB (+24%)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1.83 GB (-24%)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11.3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36.7 K (+225%)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11.6 K (+3%)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449.6 K (+3884%)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 CPU 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295.5% (+2603%)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1148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Verdict per fault type: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T1_CPU: YES -- DU CPU doubles, NET TX halves,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BSR +225%. Clear degradation. (29-sigma signal)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T2_MEM: PARTIAL -- exceeds cgroup limit -&gt;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OOM cycling. FS_Write spikes to 12 MB/s.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But CPU signal varies across DUs (24-sigma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for srsdu0, only 0.7-sigma for srsdu3-5).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FIX: reduce --vm-bytes from 1425M to 600M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T3_NET: YES -- NET TX drops 85%, BSR +3884%.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Most dramatic impact. (71-sigma signal)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CU faults: CU CPU jumps to 295% but DU metrics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barely change. Only 5/22 features affected.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HARQ in our data: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ul_nof_nok = 0 ALWAYS (all DUs, all faults)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nof_pusch_invalid_harqs = 0 ALWAYS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Radio link is perfect in lab (no real RF)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-&gt; HARQ features are USELESS (zero variance)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-&gt; In real deployments, HARQ would matter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What we CANNOT currently answer: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- Does the UE experience throughput degradation?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(we only have infra metrics, not app-level)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- What is the F1 interface delay during CU fault?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(would help detect CU faults if we had it)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- How many PDCP retransmissions on DU-CU link?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 (would directly capture T3_NET without artifact)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6309360"/>
            <a:ext cx="114300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T1_CPU and T3_NET: clear degradation. T2_MEM: needs stress-ng fix. CU faults: detectable in CU metrics but don't propagate to DU metrics.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8c. Additional Metrics -- What to Collect &amp;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Specific gaps in our data and exactly how to fill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486400" cy="3657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OOM Telemetry (fixes T2_MEM detection)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Metrics: container_oom_events_total, container_memory_failcnt,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container_memory_working_set_bytes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How: Already exported by cadvisor. Add to Prometheus scrape_config: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metric_relabel_configs with regex matching these metric names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Why: T2_MEM causes OOM cycling but we can't see it directly.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failcnt would spike every 0.6s, giving a direct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943600" cy="3657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End-to-End UDP Throughput (user-perceived impact)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Metric: iperf3 server-side bits_per_second, lost_packets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How: iperf3 -s --json --logfile /path/log.json on server.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Parse JSON output, align timestamps with Prometheus data.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Why: Currently we infer degradation from infra metrics.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Direct throughput lets us validate: 'DU CPU +133%'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means 'user throughput dropped by X%'.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5486400" cy="3657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F1-AP / DU-CU Latency (fixes CU fault detection)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31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Metric: Round-trip time between DU and CU containers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How: Option A: ping between containers every 1 second,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export to Prometheus via textfile collector.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Option B: srsRAN F1-AP timing from debug logs.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Why: CU faults are hard to detect (6-32% TPR) because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DU-side metrics don't change. F1 latency would spike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during CU stress, adding a direct CU fault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474720"/>
            <a:ext cx="5943600" cy="3657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PDCP SDU Retransmissions (explains T3_NET behavior)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9319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Metric: PDCP retransmission count on F1 (DU&lt;-&gt;CU) interface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How: srsRAN logs PDCP stats in debug mode. Parse gNB JSON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logs, or check if srsRAN config has PDCP metrics export.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Why: tc netem loss 2% drops packets on DU ethernet.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PDCP retransmits at F1 layer. This metric would directly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capture T3_NET without relying on ul_brate artifact.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486400"/>
            <a:ext cx="11430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Priority: (1) OOM telemetry -- easiest, already in cadvisor, fixes T2 detection. (2) F1 latency -- biggest impact, fixes CU fault detection. (3) iperf3 throughput -- validates user impact. (4) PDCP retx -- explains T3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Note: HARQ features (ul_nof_nok, invalid_harqs) are ALL ZERO in our lab. Radio link is perfect. They would only be useful in real RF deployments.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Alternative Topology-Agnostic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Other mathematical formulations that could solve the problem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11704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Pairwise (Current)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 = [CU/N | DU | sib_mean | N]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22-dim fixed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Simple, fixed size,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works with any ML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Sibling features leak faults,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zero-vector for N=1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Pairwise + Residuals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(Proposed)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 = [CU/N | DU | residuals]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15-dim fixed vector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sibling leakage,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works for any N, simple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Loses peer comparison,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residuals may be noisy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Graph Neural Network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(GNN)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 = (V={CU,DUs}, E={CU-DU})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Node features, edge passing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Natural variable topology,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learns CU-DU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Complex, needs graph batching,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hard to interpret</a:t>
                      </a:r>
                    </a:p>
                  </a:txBody>
                  <a:tcPr anchor="ctr"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DeepSets / Set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Functions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x_CU = f(CU, AGG({g(DU_i)}))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Permutation invariant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Handles variable N naturally,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mathematically principled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Needs custom architecture,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AGG choice matters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Per-Node 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x_i = [node_i features]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topology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Simplest possible,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topology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Loses CU-DU relationship,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cannot detect CU faults</a:t>
                      </a:r>
                    </a:p>
                  </a:txBody>
                  <a:tcPr anchor="ctr"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Attention-Based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Aggregation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 = Attention([CU, DU_1,...,DU_N])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Learned weighting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Adaptive, highlights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faulty node automatically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Needs all nodes at once,</a:t>
                      </a:r>
                    </a:p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variable sequence length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5486400"/>
            <a:ext cx="114300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Recommendation: Start with Pairwise+Residuals (simplest fix). If insufficient, move to DeepSets (principled variable-size handling).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DeepSets formulation: score(CU, {DU_1,...,DU_N}) = rho(f(CU) + SUM_i phi(DU_i)). Provably handles any N. Encoder phi is per-DU, rho is per-CU.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Next Steps -- Challenges &amp; How We Will Address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Focused on solving the hard problems, not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4864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Sibling features cause 3 problems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Replace with CU-DU residual features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Validate on existing data first (no new collection needed)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If residuals spike during faults -&gt; proceed to model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9436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CU fault detection is weak (6-32%)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Residuals make CU-DU relationship explicit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Expected: 7/15 features anomalous (47%) vs current 5/22 (23%)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If still weak -&gt; try separate CU-fault detector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08960"/>
            <a:ext cx="54864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Distribution shift breaks AE/BGMM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Use IF as primary (robust to drift)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If AE needed: per-topology normalization, wider bottleneck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Investigate adaptive thresholding (not fixed percentile)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108960"/>
            <a:ext cx="5943600" cy="36576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T2_MEM stress exceeds cgroup -&gt; OOM cycling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5661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Re-collect with --vm-bytes=600M (fits in headroom)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Add OOM telemetry metrics to Prometheus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Validate that signal is consistent across all DUs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846320"/>
            <a:ext cx="54864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Only 3 topologies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Add 4-DU and 5-DU configurations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True test of topology-agnostic claim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Need variable traffic patterns (not just iperf3)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846320"/>
            <a:ext cx="59436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Challenge: No fault localization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035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-&gt; Approach: Multi-head AE (DU/CU/residual decoders)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Only AFTER validating residuals work with IF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   Gives operator: WHAT is wrong + WHERE it is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Research Contribution -- What Is Novel?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this work matters beyond just 'detecting faults'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Existing O-RAN anomaly detection: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Assumes fixed topology (one model per deployment)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Requires retraining when DUs are added/removed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- Cannot generalize across deployment configurations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Our contribution: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1. CU-DU pair representation that works for ANY 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(22-feature version identifies problems,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 15-feature version proposed as fix)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2. CU-DU consistency residuals as topology-invariant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features (CU/N normalization makes N invisible)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3. Multi-head AE for simultaneous detection +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localization (DU vs CU fault diagnosis)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What we need to show for a paper: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1. 15-feature representation + IF beats 22-feature IF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on FPR, CU fault detection, and generalization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2. One model works on N=1,2,3,4,5 DU topologies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 without retraining (topology-agnostic claim)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3. Multi-head AE achieves localization that IF cannot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4. Comparison with SOTA: DeepSets, GNN, attention-based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Success metrics: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Direct DU detection: maintain 99%+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CU fault detection: &gt; 70% (currently 6-32%)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FPR (unseen topology): &lt; 10% (currently 12-100%)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Indirect false alarm: &lt; 20% (currently 77-90%)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572000"/>
            <a:ext cx="11430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The topology-agnostic guarantee: Model never sees N. CU/N normalization + per-pair residuals make N invisible. Works for N=1, 2, 3, ..., 100. ONE model for all deployments.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39496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Immediate next experiment: Compute residual features from existing data, train IF on 15 features, compare with current 22-feature IF.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If residuals work -&gt; proceed to multi-head AE. If not -&gt; investigate DeepSets / attention-based aggregation.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0CAF9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Additional Slides</a:t>
            </a:r>
          </a:p>
          <a:p>
            <a:pPr algn="ctr">
              <a:defRPr sz="2200">
                <a:solidFill>
                  <a:srgbClr val="90CAF9"/>
                </a:solidFill>
              </a:defRPr>
            </a:pPr>
            <a:r>
              <a:t>Network Architecture, Experiments, &amp; Paper Review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CORRECTED: Signal Strength Validation (z-score of mean difference)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Formula: |mean_anomaly - mean_normal| / std_normal -- using train_normal_final &amp; test_anomaly_final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Formula: sigma = |mean_anomaly - mean_normal| / std_normal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This IS a standard formula: standardized effect size (z-score of the mean difference)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Interpretation: How many standard deviations of normal variation is the anomaly mean displaced by?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sigma &gt; 3: Strong signal (anomaly is clearly distinguishable from normal)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sigma &gt; 10: Extreme signal (trivially detectable)</a:t>
            </a:r>
          </a:p>
        </p:txBody>
      </p:sp>
      <p:pic>
        <p:nvPicPr>
          <p:cNvPr id="8" name="Picture 7" descr="corrected_sigma_T1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743200"/>
            <a:ext cx="3931920" cy="2560320"/>
          </a:xfrm>
          <a:prstGeom prst="rect">
            <a:avLst/>
          </a:prstGeom>
        </p:spPr>
      </p:pic>
      <p:pic>
        <p:nvPicPr>
          <p:cNvPr id="9" name="Picture 8" descr="corrected_sigma_T2_M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0"/>
            <a:ext cx="3931920" cy="2560320"/>
          </a:xfrm>
          <a:prstGeom prst="rect">
            <a:avLst/>
          </a:prstGeom>
        </p:spPr>
      </p:pic>
      <p:pic>
        <p:nvPicPr>
          <p:cNvPr id="10" name="Picture 9" descr="corrected_sigma_T3_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0"/>
            <a:ext cx="3931920" cy="2560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74320" y="5669280"/>
            <a:ext cx="114300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The formula |mean_a - mean_n| / std_n is a valid z-score measure. It tells us: 'How many SDs of natural normal-variation is the anomaly displaced by?' Values of 25-70 sigma confirm anomalies are trivially distinguishable from normal baseline.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EXPERIMENT: DU eth0 Packet Loss -- Data Collection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Testing: Does adding a second collection interface show the real picture?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Current Setup: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DU containers are dual-homed: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eth0 = oran-intel (175.x) -- data plane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eth1 = telemetry-net (171.x) -- metrics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Metrics collected via eth1 (telemetry-net)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tc netem loss applied on eth0 (oran-intel)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Metrics collection UNAFFECTED by tc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Experiment Question: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When we apply tc loss on eth0, is the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uplink bitrate data being updated correctly?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Or is the INCREASE an artifact of batched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metric reporting on the stressed DU?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Proposed Additional Collection Interface: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Add Prometheus scrape on BOTH interfaces: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1. eth1 (171.x) -- current (telemetry-net)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2. eth0 (175.x) -- new (oran-intel direct)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Compare metrics from BOTH interfaces: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If eth0 metrics differ from eth1 metrics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-&gt; proves reporting path matters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If identical -&gt; reporting artifact is real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Also check: CU-side view of the same KPIs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CU sees the actual F1U throughput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If CU sees DROP while DU reports INCREASE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-&gt; confirms DU-side reporting artifact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-&gt; CU metrics are the ground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6217920"/>
            <a:ext cx="1143000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Action: Deploy dual-interface Prometheus scraping + CU-side metrics comparison to validate/invalidate the reporting artifact hypothesis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EXPERIMENT: Uplink Bitrate Behavior Under DU eth0 Packet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Why does radio_ul_brate INCREASE during network stress?</a:t>
            </a:r>
          </a:p>
        </p:txBody>
      </p:sp>
      <p:pic>
        <p:nvPicPr>
          <p:cNvPr id="7" name="Picture 6" descr="packet_loss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11704320" cy="457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5943600"/>
            <a:ext cx="11430000" cy="7315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Two hypotheses for ul_brate increase: (1) Reporting artifact -- DU batches metric reports when stressed, accumulated bits per report window. (2) Scheduler effect -- 0% BLER in ZMQ makes scheduler increase MCS, raising PHY-level bitrate. Both experiments needed to distinguish.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HARQ = 0 Always in ZMQ Mode (Despite tc Packet Loss)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Is our HARQ implementation wrong? NO -- it's the ZMQ transport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Real 5G (over-the-air):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UE PHY &lt;-&gt; DU PHY via radio channel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Noise/fading -&gt; CRC errors at PHY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MAC sends HARQ NACK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DU retransmits at MAC layer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HARQ operates BELOW IP layer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ZMQ Simulation (our setup):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UE PHY &lt;-&gt; DU PHY via ZMQ (TCP)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tcp drops IP packet (tc netem)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TCP detects loss, retransmits SILENTLY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ZMQ receives complete data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PHY gets PERFECT IQ samples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MAC decodes perfectly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NO HARQ NACK ever generated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Is the HARQ implementation wrong?  NO!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HARQ is correctly implemented in srsRAN.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It triggers when PHY reports CRC failure.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But in ZMQ mode, PHY NEVER sees CRC failure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because TCP/ZMQ guarantees delivery.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tc operates at Linux network (IP) layer,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which is ABOVE the PHY/MAC layers where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HARQ operates. They're at different layers.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1148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What would trigger HARQ in simulation?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PHY channel model (AWGN, fading)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Inject noise at IQ sample level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srsRAN supports channel models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-&gt; NOT tc (wrong layer entirely)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486400"/>
          <a:ext cx="1143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tc Effect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Retransmission?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HARQ Impact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F1U (DU&lt;-&gt;CU)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Packet dropped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(UDP)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 (above MAC)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F1AP (DU&lt;-&gt;CU)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SCTP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Packet dropped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(SCTP retx)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 (control)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ZMQ (DU&lt;-&gt;UE)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Packet dropped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(TCP retx)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NONE (PHY perfect)</a:t>
                      </a:r>
                    </a:p>
                  </a:txBody>
                  <a:tcPr anchor="ctr"/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Radio (real)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Air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N/A (no tc)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HARQ at MAC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YES (CRC errors)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Network Topology - Dual Subnet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669280" cy="54864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onsolas"/>
              </a:defRPr>
            </a:pPr>
            <a:r>
              <a:t>175.0.0.0/8 (oran-intel) - DATA PLANE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371600"/>
            <a:ext cx="1645920" cy="502920"/>
          </a:xfrm>
          <a:prstGeom prst="rect">
            <a:avLst/>
          </a:prstGeom>
          <a:solidFill>
            <a:srgbClr val="00440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onsolas"/>
              </a:defRPr>
            </a:pPr>
            <a:r>
              <a:t>5GC</a:t>
            </a:r>
            <a:br/>
            <a:r>
              <a:t>175.53.1.2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cu0</a:t>
            </a:r>
            <a:br/>
            <a:r>
              <a:t>175.53.10.1</a:t>
            </a:r>
            <a:br/>
            <a:r>
              <a:t>2nd: .1.11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cu1</a:t>
            </a:r>
            <a:br/>
            <a:r>
              <a:t>175.53.10.2</a:t>
            </a:r>
            <a:br/>
            <a:r>
              <a:t>2nd: .1.12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194560"/>
            <a:ext cx="1463040" cy="640080"/>
          </a:xfrm>
          <a:prstGeom prst="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cu2</a:t>
            </a:r>
            <a:br/>
            <a:r>
              <a:t>175.53.10.3</a:t>
            </a:r>
            <a:br/>
            <a:r>
              <a:t>2nd: .1.15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du0</a:t>
            </a:r>
            <a:br/>
            <a:r>
              <a:t>.1.10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du1</a:t>
            </a:r>
            <a:br/>
            <a:r>
              <a:t>.1.13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du2</a:t>
            </a:r>
            <a:br/>
            <a:r>
              <a:t>.1.14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du3</a:t>
            </a:r>
            <a:br/>
            <a:r>
              <a:t>.1.16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du4</a:t>
            </a:r>
            <a:br/>
            <a:r>
              <a:t>.1.17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200400"/>
            <a:ext cx="777240" cy="548640"/>
          </a:xfrm>
          <a:prstGeom prst="rect">
            <a:avLst/>
          </a:prstGeom>
          <a:solidFill>
            <a:srgbClr val="2233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du5</a:t>
            </a:r>
            <a:br/>
            <a:r>
              <a:t>.1.18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ue0</a:t>
            </a:r>
            <a:br/>
            <a:r>
              <a:t>.2.1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ue1</a:t>
            </a:r>
            <a:br/>
            <a:r>
              <a:t>.3.1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ue2</a:t>
            </a:r>
            <a:br/>
            <a:r>
              <a:t>.4.1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ue3</a:t>
            </a:r>
            <a:br/>
            <a:r>
              <a:t>.5.1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ue4</a:t>
            </a:r>
            <a:br/>
            <a:r>
              <a:t>.6.1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4114800"/>
            <a:ext cx="777240" cy="548640"/>
          </a:xfrm>
          <a:prstGeom prst="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ue5</a:t>
            </a:r>
            <a:br/>
            <a:r>
              <a:t>.7.1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1280160" cy="457200"/>
          </a:xfrm>
          <a:prstGeom prst="rect">
            <a:avLst/>
          </a:prstGeom>
          <a:solidFill>
            <a:srgbClr val="330033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B86FC"/>
                </a:solidFill>
                <a:latin typeface="Consolas"/>
              </a:defRPr>
            </a:pPr>
            <a:r>
              <a:t>Prometheus</a:t>
            </a:r>
            <a:br/>
            <a:r>
              <a:t>175.x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754880"/>
            <a:ext cx="1188720" cy="457200"/>
          </a:xfrm>
          <a:prstGeom prst="rect">
            <a:avLst/>
          </a:prstGeom>
          <a:solidFill>
            <a:srgbClr val="330033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B86FC"/>
                </a:solidFill>
                <a:latin typeface="Consolas"/>
              </a:defRPr>
            </a:pPr>
            <a:r>
              <a:t>cAdvisor</a:t>
            </a:r>
            <a:br/>
            <a:r>
              <a:t>:8080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754880"/>
            <a:ext cx="1280160" cy="457200"/>
          </a:xfrm>
          <a:prstGeom prst="rect">
            <a:avLst/>
          </a:prstGeom>
          <a:solidFill>
            <a:srgbClr val="330033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BB86FC"/>
                </a:solidFill>
                <a:latin typeface="Consolas"/>
              </a:defRPr>
            </a:pPr>
            <a:r>
              <a:t>node-exp</a:t>
            </a:r>
            <a:br/>
            <a:r>
              <a:t>:9100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/>
              </a:defRPr>
            </a:pPr>
            <a:r>
              <a:t>Redis: 175.24.0.1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577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86FC"/>
                </a:solidFill>
                <a:latin typeface="Consolas"/>
              </a:defRPr>
            </a:pPr>
            <a:r>
              <a:t>Prometheus/cAdvisor/node-exporter on oran-intel</a:t>
            </a:r>
            <a:br/>
            <a:r>
              <a:t>(need Docker socket access to scrape container metrics)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822960"/>
            <a:ext cx="5669280" cy="5486400"/>
          </a:xfrm>
          <a:prstGeom prst="rect">
            <a:avLst/>
          </a:prstGeom>
          <a:solidFill>
            <a:srgbClr val="16213E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A00"/>
                </a:solidFill>
                <a:latin typeface="Consolas"/>
              </a:defRPr>
            </a:pPr>
            <a:r>
              <a:t>171.0.0.0/8 (telemetry-net) - METRICS PLANE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371600"/>
            <a:ext cx="146304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metrics-server</a:t>
            </a:r>
            <a:br/>
            <a:r>
              <a:t>171.40.1.4:55555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371600"/>
            <a:ext cx="128016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influxdb</a:t>
            </a:r>
            <a:br/>
            <a:r>
              <a:t>171.40.1.5:8086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1371600"/>
            <a:ext cx="1280160" cy="502920"/>
          </a:xfrm>
          <a:prstGeom prst="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AA00"/>
                </a:solidFill>
                <a:latin typeface="Consolas"/>
              </a:defRPr>
            </a:pPr>
            <a:r>
              <a:t>grafana</a:t>
            </a:r>
            <a:br/>
            <a:r>
              <a:t>171.40.1.6:3000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cu0</a:t>
            </a:r>
            <a:br/>
            <a:r>
              <a:t>171.53.10.1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cu1</a:t>
            </a:r>
            <a:br/>
            <a:r>
              <a:t>171.53.10.2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2286000"/>
            <a:ext cx="1280160" cy="502920"/>
          </a:xfrm>
          <a:prstGeom prst="rect">
            <a:avLst/>
          </a:prstGeom>
          <a:solidFill>
            <a:srgbClr val="002233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onsolas"/>
              </a:defRPr>
            </a:pPr>
            <a:r>
              <a:t>cu2</a:t>
            </a:r>
            <a:br/>
            <a:r>
              <a:t>171.53.10.3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du0</a:t>
            </a:r>
            <a:br/>
            <a:r>
              <a:t>171.53.1.10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du1</a:t>
            </a:r>
            <a:br/>
            <a:r>
              <a:t>171.53.1.13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du2</a:t>
            </a:r>
            <a:br/>
            <a:r>
              <a:t>171.53.1.14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du3</a:t>
            </a:r>
            <a:br/>
            <a:r>
              <a:t>171.53.1.16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du4</a:t>
            </a:r>
            <a:br/>
            <a:r>
              <a:t>171.53.1.17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0" y="3200400"/>
            <a:ext cx="822960" cy="54864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FFFF"/>
                </a:solidFill>
                <a:latin typeface="Consolas"/>
              </a:defRPr>
            </a:pPr>
            <a:r>
              <a:t>du5</a:t>
            </a:r>
            <a:br/>
            <a:r>
              <a:t>171.53.1.18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23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/>
              </a:defRPr>
            </a:pPr>
            <a:r>
              <a:t>Flow: DU/CU -&gt; UDP:55555 -&gt; metrics-server -&gt; influxdb -&gt; grafana</a:t>
            </a:r>
            <a:br/>
            <a:br/>
            <a:r>
              <a:t>All DU/CU containers are dual-homed:</a:t>
            </a:r>
            <a:br/>
            <a:r>
              <a:t>  eth0 = oran-intel (priority: 1000)</a:t>
            </a:r>
            <a:br/>
            <a:r>
              <a:t>  eth1 = telemetry-net (priority: 100)</a:t>
            </a:r>
            <a:br/>
            <a:br/>
            <a:r>
              <a:t>metrics-server, influxdb, grafana -&gt; telemetry-net ONLY</a:t>
            </a:r>
            <a:br/>
            <a:r>
              <a:t>Prometheus, cAdvisor, node-exporter -&gt; oran-intel</a:t>
            </a:r>
            <a:br/>
            <a:r>
              <a:t>  (need Docker socket to scrape container/host metrics)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onsolas"/>
              </a:defRPr>
            </a:pPr>
            <a:r>
              <a:t>Container Interface Assignment &amp; tc Packet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DUAL-HOMED CONTAINER (e.g., srsdu0)</a:t>
            </a:r>
            <a:br/>
            <a:r>
              <a:t>  +-----------------------------------------------------------+</a:t>
            </a:r>
            <a:br/>
            <a:r>
              <a:t>  |                                                           |</a:t>
            </a:r>
            <a:br/>
            <a:r>
              <a:t>  |   eth0 (oran-intel)              eth1 (telemetry-net)     |</a:t>
            </a:r>
            <a:br/>
            <a:r>
              <a:t>  |   IP: 175.53.1.10               IP: 171.53.1.10          |</a:t>
            </a:r>
            <a:br/>
            <a:r>
              <a:t>  |   priority: 1000 (HIGH)         priority: 100 (LOW)      |</a:t>
            </a:r>
            <a:br/>
            <a:r>
              <a:t>  |       |                               |                   |</a:t>
            </a:r>
            <a:br/>
            <a:r>
              <a:t>  |   +----------------+           +------------------+       |</a:t>
            </a:r>
            <a:br/>
            <a:r>
              <a:t>  |   | DATA PLANE     |           | METRICS          |       |</a:t>
            </a:r>
            <a:br/>
            <a:r>
              <a:t>  |   |                |           |                  |       |</a:t>
            </a:r>
            <a:br/>
            <a:r>
              <a:t>  |   | * F1AP -&gt; CU   |           | * UDP:55555 -&gt;   |       |</a:t>
            </a:r>
            <a:br/>
            <a:r>
              <a:t>  |   |   (SCTP:38472) |           |   metrics-server |       |</a:t>
            </a:r>
            <a:br/>
            <a:r>
              <a:t>  |   | * F1U -&gt; CU    |           |   (171.40.1.4)   |       |</a:t>
            </a:r>
            <a:br/>
            <a:r>
              <a:t>  |   |   (UDP)        |           |                  |       |</a:t>
            </a:r>
            <a:br/>
            <a:r>
              <a:t>  |   | * ZMQ -&gt; UE    |           | JSON metrics     |       |</a:t>
            </a:r>
            <a:br/>
            <a:r>
              <a:t>  |   |   (TCP)        |           | every 500ms      |       |</a:t>
            </a:r>
            <a:br/>
            <a:r>
              <a:t>  |   +----------------+           +------------------+       |</a:t>
            </a:r>
            <a:br/>
            <a:r>
              <a:t>  |                                                           |</a:t>
            </a:r>
            <a:br/>
            <a:r>
              <a:t>  |   tc qdisc replace dev eth0   &lt;-- CORRECT TARGET          |</a:t>
            </a:r>
            <a:br/>
            <a:r>
              <a:t>  |   root netem loss X%            (affects data plane)      |</a:t>
            </a:r>
            <a:br/>
            <a:r>
              <a:t>  |                                                           |</a:t>
            </a:r>
            <a:br/>
            <a:r>
              <a:t>  +-----------------------------------------------------------+</a:t>
            </a:r>
            <a:br/>
            <a:br/>
            <a:r>
              <a:t>  WHY priority MATTERS:</a:t>
            </a:r>
            <a:br/>
            <a:r>
              <a:t>  ---------------------</a:t>
            </a:r>
            <a:br/>
            <a:r>
              <a:t>  Docker assigns interfaces ALPHABETICALLY by network name:</a:t>
            </a:r>
            <a:br/>
            <a:r>
              <a:t>    "telemetry-net" (t) &gt; "oran-intel" (o) =&gt; eth0 = oran-intel</a:t>
            </a:r>
            <a:br/>
            <a:br/>
            <a:r>
              <a:t>  Fix: priority: 1000 on oran-intel forces it to be eth0</a:t>
            </a:r>
            <a:br/>
            <a:r>
              <a:t>       priority: 100  on telemetry-net  makes it eth1</a:t>
            </a:r>
            <a:br/>
            <a:br/>
            <a:r>
              <a:t>  This ensures:</a:t>
            </a:r>
            <a:br/>
            <a:r>
              <a:t>    * tc on eth0 = affects srsRAN data plane traffic</a:t>
            </a:r>
            <a:br/>
            <a:r>
              <a:t>    * Metrics flow on eth1 = unaffected by tc experiments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444"/>
                </a:solidFill>
                <a:latin typeface="Consolas"/>
              </a:defRPr>
            </a:pPr>
            <a:r>
              <a:t>Why tc Packet Loss Does NOT Trigger HARQ in ZMQ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  REAL 5G (over-the-air):                ZMQ SIMULATION (this setup):</a:t>
            </a:r>
            <a:br/>
            <a:br/>
            <a:r>
              <a:t>  UE         DU                          UE              DU</a:t>
            </a:r>
            <a:br/>
            <a:r>
              <a:t>  +----+   +----+                        +----+        +----+</a:t>
            </a:r>
            <a:br/>
            <a:r>
              <a:t>  | APP|   |    |                        | APP|        |    |</a:t>
            </a:r>
            <a:br/>
            <a:r>
              <a:t>  | TCP|   |    |                        | TCP|        |    |</a:t>
            </a:r>
            <a:br/>
            <a:r>
              <a:t>  | IP |   |    |                        | IP |        |    |</a:t>
            </a:r>
            <a:br/>
            <a:r>
              <a:t>  |PDCP|   |PDCP|                        |PDCP|        |PDCP|</a:t>
            </a:r>
            <a:br/>
            <a:r>
              <a:t>  |RLC |   |RLC |                        |RLC |        |RLC |</a:t>
            </a:r>
            <a:br/>
            <a:r>
              <a:t>  |MAC |&lt;-&gt;|MAC | &lt;- HARQ here           |MAC |&lt;------&gt;|MAC | &lt;- HARQ here</a:t>
            </a:r>
            <a:br/>
            <a:r>
              <a:t>  |PHY |&lt;-&gt;|PHY |                        |PHY |        |PHY |</a:t>
            </a:r>
            <a:br/>
            <a:r>
              <a:t>  +----+   +----+                        +--+-+        +--+-+</a:t>
            </a:r>
            <a:br/>
            <a:r>
              <a:t>     ^ radio  ^                              |  ZMQ(TCP)   |</a:t>
            </a:r>
            <a:br/>
            <a:r>
              <a:t>     +--------+                              +------+------+</a:t>
            </a:r>
            <a:br/>
            <a:r>
              <a:t>   noise -&gt; CRC fail                                |</a:t>
            </a:r>
            <a:br/>
            <a:r>
              <a:t>   -&gt; HARQ NACK                               +----+-------+</a:t>
            </a:r>
            <a:br/>
            <a:r>
              <a:t>   -&gt; retransmit                               | Linux net  | &lt;- tc operates HERE</a:t>
            </a:r>
            <a:br/>
            <a:r>
              <a:t>                                               | (IP/TCP)   |</a:t>
            </a:r>
            <a:br/>
            <a:r>
              <a:t>                                               +------------+</a:t>
            </a:r>
            <a:br/>
            <a:br/>
            <a:r>
              <a:t>  PROBLEM:  tc drops IP packet</a:t>
            </a:r>
            <a:br/>
            <a:r>
              <a:t>                  |</a:t>
            </a:r>
            <a:br/>
            <a:r>
              <a:t>            TCP detects loss, retransmits SILENTLY</a:t>
            </a:r>
            <a:br/>
            <a:r>
              <a:t>                  |</a:t>
            </a:r>
            <a:br/>
            <a:r>
              <a:t>            ZMQ receives complete data</a:t>
            </a:r>
            <a:br/>
            <a:r>
              <a:t>                  |</a:t>
            </a:r>
            <a:br/>
            <a:r>
              <a:t>            PHY gets PERFECT IQ samples</a:t>
            </a:r>
            <a:br/>
            <a:r>
              <a:t>                  |</a:t>
            </a:r>
            <a:br/>
            <a:r>
              <a:t>            MAC decodes perfectly -&gt; NO HARQ needed</a:t>
            </a:r>
            <a:br/>
            <a:br/>
            <a:r>
              <a:t>  RESULT:   HARQ = 0 always in ZMQ mode regardless of tc loss</a:t>
            </a:r>
            <a:br/>
            <a:r>
              <a:t>            Bitrate keeps INCREASING (scheduler sees 0% BLER -&gt; raises MCS)</a:t>
            </a:r>
            <a:br/>
            <a:br/>
            <a:r>
              <a:t>  TO TRIGGER HARQ: Need PHY-level channel model (AWGN noise), not tc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Paper Deep Dive (Refined)</a:t>
            </a:r>
          </a:p>
          <a:p>
            <a:pPr algn="ctr">
              <a:defRPr sz="2000">
                <a:solidFill>
                  <a:srgbClr val="90CAF9"/>
                </a:solidFill>
              </a:defRPr>
            </a:pPr>
            <a:r>
              <a:t>Causal Learning for RAN Config Tuning -- Xue et al. HotMobile 2026</a:t>
            </a:r>
          </a:p>
          <a:p>
            <a:pPr algn="ctr">
              <a:defRPr sz="1600">
                <a:solidFill>
                  <a:srgbClr val="BBDEFB"/>
                </a:solidFill>
              </a:defRPr>
            </a:pPr>
            <a:r>
              <a:t>What it does -&gt; Why it's needed -&gt; How it works -&gt; Results -&gt; Our leverage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0CAF9"/>
                </a:solidFill>
              </a:defRPr>
            </a:pPr>
            <a:r>
              <a:t>Paper Review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Towards Automated RAN Configuration Tuning</a:t>
            </a:r>
          </a:p>
          <a:p>
            <a:pPr algn="ctr">
              <a:defRPr sz="3000" b="1">
                <a:solidFill>
                  <a:srgbClr val="64B5F6"/>
                </a:solidFill>
              </a:defRPr>
            </a:pPr>
            <a:r>
              <a:t>in Cellular Networks with Causal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DEFB"/>
                </a:solidFill>
              </a:defRPr>
            </a:pPr>
            <a:r>
              <a:t>Xue*, Zhang*, Marina (U. Edinburgh) + Yan, Zhou, Ip, Klosowski (AT&amp;T Labs Research)</a:t>
            </a:r>
          </a:p>
          <a:p>
            <a:pPr algn="ctr">
              <a:defRPr sz="1300">
                <a:solidFill>
                  <a:srgbClr val="666666"/>
                </a:solidFill>
              </a:defRPr>
            </a:pPr>
            <a:r>
              <a:t>HotMobile 2026 | DOI: 10.1145/3789514.3792052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51560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What this paper does:</a:t>
            </a:r>
            <a:br/>
            <a:br/>
            <a:r>
              <a:t>RAN has 275 configuration parameters (power, access control, load balancing, etc.).</a:t>
            </a:r>
            <a:br/>
            <a:r>
              <a:t>Changing one affects throughput -- but so does traffic, weather, mobility (hidden confounders).</a:t>
            </a:r>
            <a:br/>
            <a:r>
              <a:t>This paper uses CAUSAL LEARNING to separate the TRUE effect of config changes from noise.</a:t>
            </a:r>
            <a:br/>
            <a:br/>
            <a:r>
              <a:t>Result: Predicts 'what would happen if I change CRSGAIN to X?' with 6x better accuracy</a:t>
            </a:r>
            <a:br/>
            <a:r>
              <a:t>than existing methods. Evaluated on 1M+ real cells over 6 months.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Are the Configs &amp; KPIs in This Paper?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Understanding the inputs (knobs) and outputs (measurements)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KPI (Output -- what we measure):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Primary: DL_DRB_TPUT (downlink throughput per cell)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This is the EFFECT we want to predict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Future: latency, reliability (not in this paper)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</a:defRPr>
            </a:pPr>
            <a:r>
              <a:t>Static Attributes S (7 total, fixed at deployment):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DL_CH_BW: channel bandwidth (5MHz, 20MHz)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DLMIMOMODE: antenna config (4x4, 4x2)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Morphology: URBAN, SUBURBAN, RURAL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eNodeB Type: MACRO, IDAS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Region, Band, + 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</a:defRPr>
            </a:pPr>
            <a:r>
              <a:t>Dynamic Configuration Parameters X (the 'knobs' engineers tune -- 275 total):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41148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Controls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Example Effect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CRSGAIN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Reference signal power (base station TX power)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Higher -&gt; stronger signal for UEs,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but also more inter-cell interference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ACB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Access Class Barring (restricts UE connections)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ACB=1 blocks overload;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ACB=0 allows all UEs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QRXLEVMIN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Min signal strength for cell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Lower -&gt; UEs connect from farther away</a:t>
                      </a: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LBUTRANOFFLOAD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Load balancing trigger point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Controls when UEs are handed off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to less-loaded base stations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TTIBUNDLING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SWITCHTHRES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TTI bundling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Affects uplink for cell-edge UEs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Why Correlation != Causation in 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Hidden factors (confounders) make naive data analysis misleading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The Naive Approach: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Look at data: when CRSGAIN=100, throughput is high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Conclusion: CRSGAIN=100 is good!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The Reality: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Engineers SET CRSGAIN=100 specifically BECAUSE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traffic was high in that area (they already knew it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needed more power)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The high throughput might be due to good conditions,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NOT the setting itself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-&gt; This is CONFOUNDING: hidden factor Z (traffic)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 affects BOTH the config choice AND the 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Confounders Z (hidden/latent factors):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User mobility patterns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Traffic surges (concerts, sports events)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Weather affecting signal propagation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Interference from neighboring cells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Measurement noise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These SIMULTANEOUSLY influence: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Which configs engineers choose (X)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The network performance (Y)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Result: X and Y are correlated but the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correlation is SPURIOUS (not causal)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114300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paper_fig2_causal_dags.png]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Front-Door Causal Adjustment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Using a MEDIATOR to bypass hidden confounders -- no need to measure Z!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Back-door (ideal but impossible):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Measure ALL confounders Z, condition on them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Problem: Can't measure weather, exact user locations,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interference from non-cellular devices, etc.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Front-door (this paper's solution):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Don't measure Z at all!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Instead, use a MEDIATOR M that transmits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the effect of config X to KPI 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Causal chain: X -&gt; M -&gt; 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(Z also affects X and Y, but can't skip over M)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Car Analogy (our interpretation, not in paper):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X = how far you press the gas pedal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 = engine RPM and torque (the physics)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Y = how fast the car goes today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Z = wind, road conditions (hidden noise)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If I tell you the engine is at 4000 RPM (M) on 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flat highway (S), knowing the pedal position (X)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gives you NO extra info about speed (Y).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The RPM already captured the pedal's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What IS the mediator M?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 = distributional summary of KPI outcomes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 = (Q(1), ..., Q(K)) -- K quantiles of KPI dist.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computed over multiple days per unique (X, S) pair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Illustrative example (ours, not from paper):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CRSGAIN=0 in 5MHz Urban cell, over many days: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Q(0.10) = 5 Mbps  (worst 10%)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Q(0.50) = 15 Mbps (median)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Q(0.90) = 25 Mbps (best 10%)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Why quantiles, not average?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Quantiles capture the SHAPE of performance: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- Changes in quantile gaps reveal config effects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- Aggregation over days smooths out daily noise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from confounders (traffic, mobility,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114800"/>
            <a:ext cx="5943600" cy="13716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The Math (from paper Sec. 4.2):</a:t>
            </a:r>
            <a:br/>
            <a:r>
              <a:t>P(Y|M,X,S) = P(Y|M) * P(M|X,S) * P(X|S)</a:t>
            </a:r>
            <a:br/>
            <a:br/>
            <a:r>
              <a:t>P(M|X,S): How does the config shape the KPI distribution?</a:t>
            </a:r>
            <a:br/>
            <a:r>
              <a:t>P(Y|M): Daily KPI Y is a random sample from distribution M.</a:t>
            </a:r>
            <a:br/>
            <a:r>
              <a:t>P(X|S): Config prior conditioned on static cell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943600"/>
            <a:ext cx="5486400" cy="7315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Key: For each KPI there is a different M.</a:t>
            </a:r>
            <a:br/>
            <a:r>
              <a:t>This paper focuses on DL_DRB_TPUT only.</a:t>
            </a:r>
            <a:br/>
            <a:r>
              <a:t>Future: separate M for latency, reliability.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Conditions for Unbiased Causal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When does the front-door trick actually 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114300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Condition 1: Mediator Completeness -- X _|_ Y | M,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Meaning: Config X affects KPI Y ONLY through the physical behavior M. No 'secret path' that bypasses M.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Why it holds: CRSGAIN changes signal power -&gt; changes throughput distribution M -&gt; produces daily Y.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Once you know M (the distribution) and S (the environment), knowing X adds ZERO extra info about today's Y.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Y is just a random sample from M. If Y deviates from M, that's environmental noise (Z), not config effect.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08960"/>
            <a:ext cx="114300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Condition 2: Unconfounded Mediator -- Z does NOT directly influence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Meaning: Hidden factors Z (traffic, weather) don't corrupt M.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Why it holds: M is computed by AGGREGATING KPIs over 20+ days for each (X, S) pair.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A single day's traffic surge affects that day's Y, but the MEDIAN over 20 days remains stable and representative.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Aggregation across time 'washes away' the daily noise from 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754880"/>
            <a:ext cx="11430000" cy="3657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Condition 3: Positivity -- P(X=x | S=s) &gt; 0 for all x,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Meaning: Every config value must appear in every type of environment (no blind spots).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If Urban cells ONLY use CRSGAIN=0 and Rural ONLY use CRSGAIN=100, you can't tell if the performance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difference is from the config or the environment. You need CRSGAIN=0 AND =100 in BOTH Urban AND Rural.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Why it holds: 1M+ cells over 6 months -&gt; enough natural diversity. CRSGAIN=0 appears across all regions.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Stage 1: Feature Selection -- Which Configs Actually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Pruning 275 parameters down to ~80 causally sufficient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The Goal: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Find X-tilde (subset) such that: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P(Y | do(X), S) = P(Y | do(X-tilde), 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= same causal effect with fewer params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The Filter: I(Xi ; M | S) &gt; epsilon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'Does knowing this param Xi give significant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new info about the distribution M,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AFTER accounting for environment S?'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Example of 3 types of parameters: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1. CRSGAIN (KEEP - causal):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When CRSGAIN changes, M shifts significantly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I(CRSGAIN; M | S) = HIGH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2. Noise params (PRUNE - non-identifiable):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Some params change often but don't shift 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I(Xi; M | S) ~ 0 -&gt; pruned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3. Environmentally induced params (PRUNE):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Correlate with Y but don't CAUSE Y through 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Once you know S and M, they add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How the Model Does It (Architecture):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a) Modulated Encoder P(X|S):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FiLM layers embed configs conditioned 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static attributes (region, bandwidth, morphology)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b) Config Mask Generator: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MLP assigns a WEIGHT to each of 275 params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High weight = likely causal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Low weight = noise or redundant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c) Quantile Decoder P(M|X,S):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Tries to RECONSTRUCT the distribution 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using only the high-weight params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If reconstruction succeeds -&gt; those params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are sufficient to explain M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d) Elbow Cutoff: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Rank by weight, cut the bottom ones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275 -&gt; ~80 causal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114800"/>
            <a:ext cx="5943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paper_fig3_architecture.png]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943600"/>
            <a:ext cx="54864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At inference: encoder-decoder is DISCARDED.</a:t>
            </a:r>
            <a:br/>
            <a:r>
              <a:t>Only the mask generator is used to produce</a:t>
            </a:r>
            <a:br/>
            <a:r>
              <a:t>interpretable, sparsity-aware config importance scores.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Stage 2: Value Grouping -- Combinations Matter!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A single parameter rarely determines KPI alone; effects emerge from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The Problem: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Looking at params individually is MISLEADING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Example: ACB (Access Class Barring)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Single-param view: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ACB=0: median throughput = 4.0 Mbps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ACB=1: median throughput = 9.9 Mbps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-&gt; Seems like ACB=1 is better!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Grouped view (ACB + CRSGAIN=0 + LoadThresh=1600):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ACB=0: median throughput = 19.5 Mbps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ACB=1: median throughput = 14.1 Mbps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 -&gt; With these partners, ACB=0 is BETTER!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Why? When load balancing is optimized (thresh=1600)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and interference is controlled (CRSGAIN=0),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allowing all UEs (ACB=0) lets the network better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utilize physical resource blocks.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The Solution: Neural Combinatorial Solver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1. Config Value Weight Generator: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Outputs contribution of each config VALUE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(not just parameter) to KPI improvement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Trained with contrastive loss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2. Config Group Sampler: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Explores combinations of non-contextual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params (Xn) given contextual ones (Xc)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3. SetTransformer-based Solver: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Permutation-invariant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-&gt; Order of params doesn't matter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Finds groups that maximize KPI improvement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 w(Xg | S, Xc)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Distinguishes: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Contextual (Xc): ALL values matter for KPIs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Non-contextual (Xn): effect depends on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06240"/>
            <a:ext cx="5029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paper_fig5_acb_grouping.png]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206240"/>
            <a:ext cx="6400800" cy="9144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Key Insight: Causal effects can INVERT under different groupings!</a:t>
            </a:r>
            <a:br/>
            <a:r>
              <a:t>ACB=0 is worse alone but BETTER when paired with the right load balancing.</a:t>
            </a:r>
            <a:br/>
            <a:r>
              <a:t>This is why holistic causal reasoning matters -- not single-param optimization.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5303520"/>
            <a:ext cx="640080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For our work: A fault might not be one bad setting, but two settings</a:t>
            </a:r>
            <a:br/>
            <a:r>
              <a:t>that CONFLICT. Value grouping catches these interdependent issues.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Innovation: Snapshot-Based vs Change-Based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How they get 20x more data from the same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Change-Based (existing: Chroma, Iridescence, CIPAT):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Wait for a config to CHANGE in a cell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Compare before/after performance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Problems: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Engineers are CONSERVATIVE (rare changes)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&lt; 100 joint change events in 6 months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across 20 regions nationwide!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External factors change simultaneously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(weather, traffic) -&gt; can't attribute cause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Very few samples for data-driven methods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MAE: 2.86 Mbps (single param)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   2.70 Mbps (multi param)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Snapshot-Based (this paper):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Don't wait for changes!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On ANY day, different cells have different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stable configurations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Compare Cell A (CRSGAIN=0, Urban) vs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Cell B (CRSGAIN=100, Urban) on the SAME day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-&gt; Learn the effect without needing a change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Advantages: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- 20x more usable samples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Aggregation over days smooths confounders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Works with 1M+ cells of natural diversity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- Enables front-door causal formulation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MAE: 0.43 Mbps (single param) -- 6.6x better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     0.41 Mbps (multi param) -- 6.6x better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943600"/>
            <a:ext cx="114300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The data IS dynamic configs, but observed mostly in stable states. The AI uses cross-cell diversity to 'simulate' what would happen if you changed them. No need to actually run experiments in the live network!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Results: 6x Improvement Over Prior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1M+ cells, 6-month dataset, 275 config parameters -&gt; DL_DRB_TPUT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18872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paper_fig4_causal_weight.png]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760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paper_fig6_whatif.png]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Causal Weight Validation (left):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5MHz: CRSGAIN=0 gets highest weight (correct!)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20MHz: monotonic increase to inflection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Model recovers physically consistent trends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What-if Analysis (right):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'If I change CRSGAIN from 0 to 300, what happens?'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Causal model: 0.43 Mbps error (tracks ground truth)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Change-based: 2.86 Mbps error (clusters around 0)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50292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vs Baseline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Single-param what-if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MAE = 0.43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6.6x better</a:t>
                      </a:r>
                    </a:p>
                  </a:txBody>
                  <a:tcPr anchor="ctr"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Multi-param what-if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MAE = 0.41 Mbps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6.6x better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Unseen config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1.5 Mbps median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Generalizes!</a:t>
                      </a:r>
                    </a:p>
                  </a:txBody>
                  <a:tcPr anchor="ctr"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Region transfer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Tracks local KPI median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Transfers!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Feature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275 -&gt; ~80 params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3.4x reduction</a:t>
                      </a:r>
                    </a:p>
                  </a:txBody>
                  <a:tcPr anchor="ctr"/>
                </a:tc>
              </a:tr>
              <a:tr h="23513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Inference speed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~10ms per cell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10K cells/min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Generalizability &amp;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Works on unseen config values AND transfers across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188720"/>
            <a:ext cx="5760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paper_fig8_generalizability.png]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88720"/>
            <a:ext cx="5760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6666"/>
                </a:solidFill>
              </a:defRPr>
            </a:pPr>
            <a:r>
              <a:t>[Image: paper_fig9_region_transfer.png]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148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Generalization (left) -- Paper Fig 8: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Training: ONLY values between 50-150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Test: held-out values OUTSIDE this range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Model captures peak at ~110, decline on sides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1.5 Mbps median prediction error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-&gt; Infers patterns for UNSEEN config values!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1148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Region Transfer (right):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Region A: only 5 TTI values, 0 changes (sparse)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Nationwide: 12 values, &gt;393K changes (rich)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Transfer: re-normalize global causal weights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over local config values -&gt; tracks local median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-&gt; Causal structure learned once, applied anywhere!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We Can Leverage This for Topology-Agnostic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DEFB"/>
                </a:solidFill>
              </a:defRPr>
            </a:pPr>
            <a:r>
              <a:t>Mapping paper concepts to our anomaly detection framework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Paper Concept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Their Application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Application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Causal Feature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275 configs -&gt; 80 causal params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(auto, not manual)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359 raw cols -&gt; 22 features (manual)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Causal: auto-select topology-invariant features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Front-door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Mediator M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KPI quantile distribution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absorbs confounders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CU/N normalization absorbs topology size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Causal: learn residual distributions as M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Value 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Config combos that jointly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affect KPIs (ACB+CRSGAIN)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Feature combos that jointly signal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faults (du_cpu + cu_net_tx/N)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Transfer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Data-rich region -&gt; sparse region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(same causal weights)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Seen topology (2-DU) -&gt; unseen (5-DU)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(same causal structure, different N)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What-if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Predict KPI under unseen configs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Predict normal behavior for new topology</a:t>
                      </a:r>
                    </a:p>
                    <a:p>
                      <a:pPr algn="ctr"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(what SHOULD N=5 look like?)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6634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Key Connection: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Their causal chain: Config X -&gt; Physics M -&gt; KPI 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Our causal chain:  Fault X -&gt; Metrics M -&gt; Score 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If we learn which CU-DU metrics CAUSALLY signal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anomalies, that structure is topology-invariant.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CPU stress -&gt; net_tx drop is CAUSAL regardless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  of whether N=2 or N=5.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663440"/>
            <a:ext cx="5943600" cy="20116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Potential Research Direction:</a:t>
            </a:r>
            <a:br/>
            <a:br/>
            <a:r>
              <a:t>Use causal discovery to AUTOMATICALLY learn which CU-DU</a:t>
            </a:r>
            <a:br/>
            <a:r>
              <a:t>features causally affect anomaly scores, replacing manual</a:t>
            </a:r>
            <a:br/>
            <a:r>
              <a:t>feature engineering. The causal graph transfers across</a:t>
            </a:r>
            <a:br/>
            <a:r>
              <a:t>topologies -- only the distributions change.</a:t>
            </a:r>
            <a:br/>
            <a:br/>
            <a:r>
              <a:t>A new topology with N=5 DUs has the same causal mechanisms</a:t>
            </a:r>
            <a:br/>
            <a:r>
              <a:t>as N=2. Train once, deploy everywhere.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A0A1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onsolas"/>
              </a:defRPr>
            </a:pPr>
            <a:r>
              <a:t>Lab Architecture: CU-DU-UE Topology (Data + Metrics + Control Planes)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0" y="45720"/>
            <a:ext cx="3017520" cy="640080"/>
          </a:xfrm>
          <a:prstGeom prst="rect">
            <a:avLst/>
          </a:prstGeom>
          <a:solidFill>
            <a:srgbClr val="1621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0" y="4572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D2FF"/>
                </a:solidFill>
                <a:latin typeface="Consolas"/>
              </a:defRPr>
            </a:pPr>
            <a:r>
              <a:t>C-Plane (F1AP/N2 SCTP)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011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FF88"/>
                </a:solidFill>
                <a:latin typeface="Consolas"/>
              </a:defRPr>
            </a:pPr>
            <a:r>
              <a:t>U-Plane (F1U UDP / ZMQ TCP)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356616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AA00"/>
                </a:solidFill>
                <a:latin typeface="Consolas"/>
              </a:defRPr>
            </a:pPr>
            <a:r>
              <a:t>M-Plane (UDP:55555 telemetry-net)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50292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4444"/>
                </a:solidFill>
                <a:latin typeface="Consolas"/>
              </a:defRPr>
            </a:pPr>
            <a:r>
              <a:t>tc packet loss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868680"/>
            <a:ext cx="2011680" cy="548640"/>
          </a:xfrm>
          <a:prstGeom prst="roundRect">
            <a:avLst/>
          </a:prstGeom>
          <a:solidFill>
            <a:srgbClr val="00440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F88"/>
                </a:solidFill>
                <a:latin typeface="Consolas"/>
              </a:defRPr>
            </a:pPr>
            <a:r>
              <a:t>5GC (AMF/UPF)</a:t>
            </a:r>
            <a:br/>
            <a:r>
              <a:t>175.53.1.2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828800" cy="594360"/>
          </a:xfrm>
          <a:prstGeom prst="round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CU0 (gnb:511)</a:t>
            </a:r>
            <a:br/>
            <a:r>
              <a:t>175.53.10.1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1828800" cy="594360"/>
          </a:xfrm>
          <a:prstGeom prst="round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CU1 (gnb:512)</a:t>
            </a:r>
            <a:br/>
            <a:r>
              <a:t>175.53.10.2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828800"/>
            <a:ext cx="1828800" cy="594360"/>
          </a:xfrm>
          <a:prstGeom prst="roundRect">
            <a:avLst/>
          </a:prstGeom>
          <a:solidFill>
            <a:srgbClr val="00225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0D2FF"/>
                </a:solidFill>
                <a:latin typeface="Consolas"/>
              </a:defRPr>
            </a:pPr>
            <a:r>
              <a:t>CU2 (gnb:513)</a:t>
            </a:r>
            <a:br/>
            <a:r>
              <a:t>175.53.10.3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28800" y="1417319"/>
            <a:ext cx="4206240" cy="411481"/>
          </a:xfrm>
          <a:prstGeom prst="line">
            <a:avLst/>
          </a:prstGeom>
          <a:ln w="1905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01952" y="1417319"/>
            <a:ext cx="4206240" cy="411481"/>
          </a:xfrm>
          <a:prstGeom prst="line">
            <a:avLst/>
          </a:prstGeom>
          <a:ln w="1905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43600" y="1417319"/>
            <a:ext cx="91440" cy="411481"/>
          </a:xfrm>
          <a:prstGeom prst="line">
            <a:avLst/>
          </a:prstGeom>
          <a:ln w="1905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016752" y="1417319"/>
            <a:ext cx="91440" cy="411481"/>
          </a:xfrm>
          <a:prstGeom prst="line">
            <a:avLst/>
          </a:prstGeom>
          <a:ln w="1905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35040" y="1417319"/>
            <a:ext cx="3840480" cy="411481"/>
          </a:xfrm>
          <a:prstGeom prst="line">
            <a:avLst/>
          </a:prstGeom>
          <a:ln w="1905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8192" y="1417319"/>
            <a:ext cx="3840480" cy="411481"/>
          </a:xfrm>
          <a:prstGeom prst="line">
            <a:avLst/>
          </a:prstGeom>
          <a:ln w="1905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D2FF"/>
                </a:solidFill>
                <a:latin typeface="Consolas"/>
              </a:defRPr>
            </a:pPr>
            <a:r>
              <a:t>N2(SCTP)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00FF88"/>
                </a:solidFill>
                <a:latin typeface="Consolas"/>
              </a:defRPr>
            </a:pPr>
            <a:r>
              <a:t>N3(GTP-U)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du0</a:t>
            </a:r>
            <a:br/>
            <a:r>
              <a:t>175.53.1.10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7249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4444"/>
                </a:solidFill>
                <a:latin typeface="Consolas"/>
              </a:defRPr>
            </a:pPr>
            <a:r>
              <a:t>tc netem loss X%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914400" y="2423160"/>
            <a:ext cx="868680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05840" y="2423160"/>
            <a:ext cx="868679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du1</a:t>
            </a:r>
            <a:br/>
            <a:r>
              <a:t>175.53.1.13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83080" y="2423160"/>
            <a:ext cx="685800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74519" y="2423160"/>
            <a:ext cx="685801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54880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du2</a:t>
            </a:r>
            <a:br/>
            <a:r>
              <a:t>175.53.1.14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394960" y="2423160"/>
            <a:ext cx="502920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486400" y="2423160"/>
            <a:ext cx="50292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98079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du3</a:t>
            </a:r>
            <a:br/>
            <a:r>
              <a:t>175.53.1.16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8138159" y="2423160"/>
            <a:ext cx="1691641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229600" y="2423160"/>
            <a:ext cx="169164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52560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du4</a:t>
            </a:r>
            <a:br/>
            <a:r>
              <a:t>175.53.1.17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9692640" y="2423160"/>
            <a:ext cx="137160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784080" y="2423160"/>
            <a:ext cx="13716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515600" y="2926080"/>
            <a:ext cx="1371600" cy="594360"/>
          </a:xfrm>
          <a:prstGeom prst="roundRect">
            <a:avLst/>
          </a:prstGeom>
          <a:solidFill>
            <a:srgbClr val="1A2A44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du5</a:t>
            </a:r>
            <a:br/>
            <a:r>
              <a:t>175.53.1.18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29800" y="2423160"/>
            <a:ext cx="1325880" cy="502920"/>
          </a:xfrm>
          <a:prstGeom prst="line">
            <a:avLst/>
          </a:prstGeom>
          <a:ln w="15240">
            <a:solidFill>
              <a:srgbClr val="00D2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21240" y="2423160"/>
            <a:ext cx="132588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D2FF"/>
                </a:solidFill>
                <a:latin typeface="Consolas"/>
              </a:defRPr>
            </a:pPr>
            <a:r>
              <a:t>F1AP(SCTP:38472)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5146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FF88"/>
                </a:solidFill>
                <a:latin typeface="Consolas"/>
              </a:defRPr>
            </a:pPr>
            <a:r>
              <a:t>F1U(UDP)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ue0</a:t>
            </a:r>
            <a:br/>
            <a:r>
              <a:t>175.53.2.1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0120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828800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ue1</a:t>
            </a:r>
            <a:br/>
            <a:r>
              <a:t>175.53.3.1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514600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754880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ue2</a:t>
            </a:r>
            <a:br/>
            <a:r>
              <a:t>175.53.4.1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40680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98079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ue3</a:t>
            </a:r>
            <a:br/>
            <a:r>
              <a:t>175.53.5.1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183879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052560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ue4</a:t>
            </a:r>
            <a:br/>
            <a:r>
              <a:t>175.53.6.1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38360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515600" y="4023360"/>
            <a:ext cx="1371600" cy="502920"/>
          </a:xfrm>
          <a:prstGeom prst="roundRect">
            <a:avLst/>
          </a:prstGeom>
          <a:solidFill>
            <a:srgbClr val="33225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ue5</a:t>
            </a:r>
            <a:br/>
            <a:r>
              <a:t>175.53.7.1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201400" y="3520440"/>
            <a:ext cx="0" cy="502920"/>
          </a:xfrm>
          <a:prstGeom prst="line">
            <a:avLst/>
          </a:prstGeom>
          <a:ln w="15240">
            <a:solidFill>
              <a:srgbClr val="00F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754880" y="3749039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FF88"/>
                </a:solidFill>
                <a:latin typeface="Consolas"/>
              </a:defRPr>
            </a:pPr>
            <a:r>
              <a:t>ZMQ(TCP)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617720"/>
            <a:ext cx="11887200" cy="228600"/>
          </a:xfrm>
          <a:prstGeom prst="rect">
            <a:avLst/>
          </a:prstGeom>
          <a:solidFill>
            <a:srgbClr val="33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617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A00"/>
                </a:solidFill>
                <a:latin typeface="Consolas"/>
              </a:defRPr>
            </a:pPr>
            <a:r>
              <a:t>M-PLANE (telemetry-net 171.0.0.0/8) -- All DUs &amp; CUs send metrics via eth1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0" y="5029200"/>
            <a:ext cx="2011680" cy="502920"/>
          </a:xfrm>
          <a:prstGeom prst="round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AA00"/>
                </a:solidFill>
                <a:latin typeface="Consolas"/>
              </a:defRPr>
            </a:pPr>
            <a:r>
              <a:t>metrics-server</a:t>
            </a:r>
            <a:br/>
            <a:r>
              <a:t>171.40.1.4:55555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5029200"/>
            <a:ext cx="1645920" cy="502920"/>
          </a:xfrm>
          <a:prstGeom prst="round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AA00"/>
                </a:solidFill>
                <a:latin typeface="Consolas"/>
              </a:defRPr>
            </a:pPr>
            <a:r>
              <a:t>InfluxDB</a:t>
            </a:r>
            <a:br/>
            <a:r>
              <a:t>171.40.1.5:8086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5029200"/>
            <a:ext cx="1645920" cy="502920"/>
          </a:xfrm>
          <a:prstGeom prst="roundRect">
            <a:avLst/>
          </a:prstGeom>
          <a:solidFill>
            <a:srgbClr val="442200"/>
          </a:solidFill>
          <a:ln w="254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AA00"/>
                </a:solidFill>
                <a:latin typeface="Consolas"/>
              </a:defRPr>
            </a:pPr>
            <a:r>
              <a:t>Grafana</a:t>
            </a:r>
            <a:br/>
            <a:r>
              <a:t>171.40.1.6:3000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83280" y="5285232"/>
            <a:ext cx="1188720" cy="0"/>
          </a:xfrm>
          <a:prstGeom prst="line">
            <a:avLst/>
          </a:prstGeom>
          <a:ln w="254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217920" y="5285232"/>
            <a:ext cx="1097280" cy="0"/>
          </a:xfrm>
          <a:prstGeom prst="line">
            <a:avLst/>
          </a:prstGeom>
          <a:ln w="25400">
            <a:solidFill>
              <a:srgbClr val="FFA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200400" y="48920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AA00"/>
                </a:solidFill>
                <a:latin typeface="Consolas"/>
              </a:defRPr>
            </a:pPr>
            <a:r>
              <a:t>UDP:55555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8920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AA00"/>
                </a:solidFill>
                <a:latin typeface="Consolas"/>
              </a:defRPr>
            </a:pPr>
            <a:r>
              <a:t>HTTP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60120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514600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440680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83879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38360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201400" y="3520440"/>
            <a:ext cx="0" cy="109728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828800" y="2423160"/>
            <a:ext cx="0" cy="219456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943600" y="2423160"/>
            <a:ext cx="0" cy="219456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75520" y="2423160"/>
            <a:ext cx="0" cy="2194560"/>
          </a:xfrm>
          <a:prstGeom prst="line">
            <a:avLst/>
          </a:prstGeom>
          <a:ln w="10160">
            <a:solidFill>
              <a:srgbClr val="FFA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743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onsolas"/>
              </a:defRPr>
            </a:pPr>
            <a:r>
              <a:t>eth0 = oran-intel (pri:1000) -- Data+Control</a:t>
            </a:r>
            <a:br/>
            <a:r>
              <a:t>eth1 = telemetry-net (pri:100) -- Metrics only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Consolas"/>
              </a:defRPr>
            </a:pPr>
            <a:r>
              <a:t>tc on eth0 -&gt; F1U(UDP) loss -&gt; bitrate drop, RLC retx</a:t>
            </a:r>
            <a:br/>
            <a:r>
              <a:t>ZMQ(TCP) retransmits -&gt; HARQ=0 always in ZMQ mode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onsolas"/>
              </a:defRPr>
            </a:pPr>
            <a:r>
              <a:t>Redis: 175.24.0.1 | Metrics flow: DU/CU --[eth1 UDP:55555]--&gt; metrics-server --&gt; InfluxDB --&gt; 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