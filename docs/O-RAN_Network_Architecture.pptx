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D2FF"/>
                </a:solidFill>
                <a:latin typeface="Consolas"/>
              </a:defRPr>
            </a:pPr>
            <a:r>
              <a:t>O-RAN srsRAN FALCON Extension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FFFFFF"/>
                </a:solidFill>
                <a:latin typeface="Consolas"/>
              </a:defRPr>
            </a:pPr>
            <a:r>
              <a:t>Dual-Network Architecture: Data Plane &amp; Metrics Separation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00FF88"/>
                </a:solidFill>
                <a:latin typeface="Consolas"/>
              </a:defRPr>
            </a:pPr>
            <a:r>
              <a:t>175.0.0.0/8 (oran-intel)  -  Data Plane (F1AP / F1U / N2 / ZMQ)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4805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AA00"/>
                </a:solidFill>
                <a:latin typeface="Consolas"/>
              </a:defRPr>
            </a:pPr>
            <a:r>
              <a:t>171.0.0.0/8 (telemetry-net)  -  Metrics Collection (UDP → InfluxDB → Grafana)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486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AAAAAA"/>
                </a:solidFill>
                <a:latin typeface="Consolas"/>
              </a:defRPr>
            </a:pPr>
            <a:r>
              <a:t>Setup Commands:</a:t>
            </a:r>
            <a:br/>
            <a:r>
              <a:t>docker network create --subnet=175.0.0.0/8 oran-intel</a:t>
            </a:r>
            <a:br/>
            <a:r>
              <a:t>docker network create --subnet=171.0.0.0/8 telemetry-net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D2FF"/>
                </a:solidFill>
                <a:latin typeface="Consolas"/>
              </a:defRPr>
            </a:pPr>
            <a:r>
              <a:t>Network Topology - Dual Subnet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822960"/>
            <a:ext cx="5669280" cy="5486400"/>
          </a:xfrm>
          <a:prstGeom prst="rect">
            <a:avLst/>
          </a:prstGeom>
          <a:solidFill>
            <a:srgbClr val="16213E"/>
          </a:solidFill>
          <a:ln w="2540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FF88"/>
                </a:solidFill>
                <a:latin typeface="Consolas"/>
              </a:defRPr>
            </a:pPr>
            <a:r>
              <a:t>175.0.0.0/8 (oran-intel) - DATA PLANE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0" y="1371600"/>
            <a:ext cx="1645920" cy="502920"/>
          </a:xfrm>
          <a:prstGeom prst="rect">
            <a:avLst/>
          </a:prstGeom>
          <a:solidFill>
            <a:srgbClr val="004400"/>
          </a:solidFill>
          <a:ln w="2540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0FF88"/>
                </a:solidFill>
                <a:latin typeface="Consolas"/>
              </a:defRPr>
            </a:pPr>
            <a:r>
              <a:t>5GC</a:t>
            </a:r>
            <a:br/>
            <a:r>
              <a:t>175.53.1.2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194560"/>
            <a:ext cx="1463040" cy="640080"/>
          </a:xfrm>
          <a:prstGeom prst="rect">
            <a:avLst/>
          </a:prstGeom>
          <a:solidFill>
            <a:srgbClr val="002255"/>
          </a:solidFill>
          <a:ln w="254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00D2FF"/>
                </a:solidFill>
                <a:latin typeface="Consolas"/>
              </a:defRPr>
            </a:pPr>
            <a:r>
              <a:t>cu0</a:t>
            </a:r>
            <a:br/>
            <a:r>
              <a:t>175.53.10.1</a:t>
            </a:r>
            <a:br/>
            <a:r>
              <a:t>2nd: .1.11</a:t>
            </a:r>
          </a:p>
        </p:txBody>
      </p:sp>
      <p:sp>
        <p:nvSpPr>
          <p:cNvPr id="7" name="Rectangle 6"/>
          <p:cNvSpPr/>
          <p:nvPr/>
        </p:nvSpPr>
        <p:spPr>
          <a:xfrm>
            <a:off x="2331720" y="2194560"/>
            <a:ext cx="1463040" cy="640080"/>
          </a:xfrm>
          <a:prstGeom prst="rect">
            <a:avLst/>
          </a:prstGeom>
          <a:solidFill>
            <a:srgbClr val="002255"/>
          </a:solidFill>
          <a:ln w="254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00D2FF"/>
                </a:solidFill>
                <a:latin typeface="Consolas"/>
              </a:defRPr>
            </a:pPr>
            <a:r>
              <a:t>cu1</a:t>
            </a:r>
            <a:br/>
            <a:r>
              <a:t>175.53.10.2</a:t>
            </a:r>
            <a:br/>
            <a:r>
              <a:t>2nd: .1.12</a:t>
            </a:r>
          </a:p>
        </p:txBody>
      </p:sp>
      <p:sp>
        <p:nvSpPr>
          <p:cNvPr id="8" name="Rectangle 7"/>
          <p:cNvSpPr/>
          <p:nvPr/>
        </p:nvSpPr>
        <p:spPr>
          <a:xfrm>
            <a:off x="4023360" y="2194560"/>
            <a:ext cx="1463040" cy="640080"/>
          </a:xfrm>
          <a:prstGeom prst="rect">
            <a:avLst/>
          </a:prstGeom>
          <a:solidFill>
            <a:srgbClr val="002255"/>
          </a:solidFill>
          <a:ln w="254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00D2FF"/>
                </a:solidFill>
                <a:latin typeface="Consolas"/>
              </a:defRPr>
            </a:pPr>
            <a:r>
              <a:t>cu2</a:t>
            </a:r>
            <a:br/>
            <a:r>
              <a:t>175.53.10.3</a:t>
            </a:r>
            <a:br/>
            <a:r>
              <a:t>2nd: .1.15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3200400"/>
            <a:ext cx="777240" cy="548640"/>
          </a:xfrm>
          <a:prstGeom prst="rect">
            <a:avLst/>
          </a:prstGeom>
          <a:solidFill>
            <a:srgbClr val="223355"/>
          </a:solidFill>
          <a:ln w="254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Consolas"/>
              </a:defRPr>
            </a:pPr>
            <a:r>
              <a:t>du0</a:t>
            </a:r>
            <a:br/>
            <a:r>
              <a:t>.1.10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34440" y="3200400"/>
            <a:ext cx="777240" cy="548640"/>
          </a:xfrm>
          <a:prstGeom prst="rect">
            <a:avLst/>
          </a:prstGeom>
          <a:solidFill>
            <a:srgbClr val="223355"/>
          </a:solidFill>
          <a:ln w="254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Consolas"/>
              </a:defRPr>
            </a:pPr>
            <a:r>
              <a:t>du1</a:t>
            </a:r>
            <a:br/>
            <a:r>
              <a:t>.1.13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103120" y="3200400"/>
            <a:ext cx="777240" cy="548640"/>
          </a:xfrm>
          <a:prstGeom prst="rect">
            <a:avLst/>
          </a:prstGeom>
          <a:solidFill>
            <a:srgbClr val="223355"/>
          </a:solidFill>
          <a:ln w="254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Consolas"/>
              </a:defRPr>
            </a:pPr>
            <a:r>
              <a:t>du2</a:t>
            </a:r>
            <a:br/>
            <a:r>
              <a:t>.1.14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71800" y="3200400"/>
            <a:ext cx="777240" cy="548640"/>
          </a:xfrm>
          <a:prstGeom prst="rect">
            <a:avLst/>
          </a:prstGeom>
          <a:solidFill>
            <a:srgbClr val="223355"/>
          </a:solidFill>
          <a:ln w="254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Consolas"/>
              </a:defRPr>
            </a:pPr>
            <a:r>
              <a:t>du3</a:t>
            </a:r>
            <a:br/>
            <a:r>
              <a:t>.1.16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840480" y="3200400"/>
            <a:ext cx="777240" cy="548640"/>
          </a:xfrm>
          <a:prstGeom prst="rect">
            <a:avLst/>
          </a:prstGeom>
          <a:solidFill>
            <a:srgbClr val="223355"/>
          </a:solidFill>
          <a:ln w="254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Consolas"/>
              </a:defRPr>
            </a:pPr>
            <a:r>
              <a:t>du4</a:t>
            </a:r>
            <a:br/>
            <a:r>
              <a:t>.1.17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09160" y="3200400"/>
            <a:ext cx="777240" cy="548640"/>
          </a:xfrm>
          <a:prstGeom prst="rect">
            <a:avLst/>
          </a:prstGeom>
          <a:solidFill>
            <a:srgbClr val="223355"/>
          </a:solidFill>
          <a:ln w="254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Consolas"/>
              </a:defRPr>
            </a:pPr>
            <a:r>
              <a:t>du5</a:t>
            </a:r>
            <a:br/>
            <a:r>
              <a:t>.1.18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4114800"/>
            <a:ext cx="777240" cy="548640"/>
          </a:xfrm>
          <a:prstGeom prst="rect">
            <a:avLst/>
          </a:prstGeom>
          <a:solidFill>
            <a:srgbClr val="332255"/>
          </a:solidFill>
          <a:ln w="25400">
            <a:solidFill>
              <a:srgbClr val="BB8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Consolas"/>
              </a:defRPr>
            </a:pPr>
            <a:r>
              <a:t>ue0</a:t>
            </a:r>
            <a:br/>
            <a:r>
              <a:t>.2.1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234440" y="4114800"/>
            <a:ext cx="777240" cy="548640"/>
          </a:xfrm>
          <a:prstGeom prst="rect">
            <a:avLst/>
          </a:prstGeom>
          <a:solidFill>
            <a:srgbClr val="332255"/>
          </a:solidFill>
          <a:ln w="25400">
            <a:solidFill>
              <a:srgbClr val="BB8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Consolas"/>
              </a:defRPr>
            </a:pPr>
            <a:r>
              <a:t>ue1</a:t>
            </a:r>
            <a:br/>
            <a:r>
              <a:t>.3.1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103120" y="4114800"/>
            <a:ext cx="777240" cy="548640"/>
          </a:xfrm>
          <a:prstGeom prst="rect">
            <a:avLst/>
          </a:prstGeom>
          <a:solidFill>
            <a:srgbClr val="332255"/>
          </a:solidFill>
          <a:ln w="25400">
            <a:solidFill>
              <a:srgbClr val="BB8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Consolas"/>
              </a:defRPr>
            </a:pPr>
            <a:r>
              <a:t>ue2</a:t>
            </a:r>
            <a:br/>
            <a:r>
              <a:t>.4.1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971800" y="4114800"/>
            <a:ext cx="777240" cy="548640"/>
          </a:xfrm>
          <a:prstGeom prst="rect">
            <a:avLst/>
          </a:prstGeom>
          <a:solidFill>
            <a:srgbClr val="332255"/>
          </a:solidFill>
          <a:ln w="25400">
            <a:solidFill>
              <a:srgbClr val="BB8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Consolas"/>
              </a:defRPr>
            </a:pPr>
            <a:r>
              <a:t>ue3</a:t>
            </a:r>
            <a:br/>
            <a:r>
              <a:t>.5.1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840480" y="4114800"/>
            <a:ext cx="777240" cy="548640"/>
          </a:xfrm>
          <a:prstGeom prst="rect">
            <a:avLst/>
          </a:prstGeom>
          <a:solidFill>
            <a:srgbClr val="332255"/>
          </a:solidFill>
          <a:ln w="25400">
            <a:solidFill>
              <a:srgbClr val="BB8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Consolas"/>
              </a:defRPr>
            </a:pPr>
            <a:r>
              <a:t>ue4</a:t>
            </a:r>
            <a:br/>
            <a:r>
              <a:t>.6.1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709160" y="4114800"/>
            <a:ext cx="777240" cy="548640"/>
          </a:xfrm>
          <a:prstGeom prst="rect">
            <a:avLst/>
          </a:prstGeom>
          <a:solidFill>
            <a:srgbClr val="332255"/>
          </a:solidFill>
          <a:ln w="25400">
            <a:solidFill>
              <a:srgbClr val="BB8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Consolas"/>
              </a:defRPr>
            </a:pPr>
            <a:r>
              <a:t>ue5</a:t>
            </a:r>
            <a:br/>
            <a:r>
              <a:t>.7.1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8463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AA"/>
                </a:solidFill>
                <a:latin typeface="Consolas"/>
              </a:defRPr>
            </a:pPr>
            <a:r>
              <a:t>Redis: 175.24.0.1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521208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AA"/>
                </a:solidFill>
                <a:latin typeface="Consolas"/>
              </a:defRPr>
            </a:pPr>
            <a:r>
              <a:t>Protocols: N2(SCTP:38412), F1AP(SCTP:38472),</a:t>
            </a:r>
            <a:br/>
            <a:r>
              <a:t>F1U(UDP), ZMQ(TCP) between DU&lt;-&gt;UE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7920" y="822960"/>
            <a:ext cx="5669280" cy="5486400"/>
          </a:xfrm>
          <a:prstGeom prst="rect">
            <a:avLst/>
          </a:prstGeom>
          <a:solidFill>
            <a:srgbClr val="16213E"/>
          </a:solidFill>
          <a:ln w="25400">
            <a:solidFill>
              <a:srgbClr val="FFA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8686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AA00"/>
                </a:solidFill>
                <a:latin typeface="Consolas"/>
              </a:defRPr>
            </a:pPr>
            <a:r>
              <a:t>171.0.0.0/8 (telemetry-net) - METRICS PLANE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83680" y="1371600"/>
            <a:ext cx="1463040" cy="502920"/>
          </a:xfrm>
          <a:prstGeom prst="rect">
            <a:avLst/>
          </a:prstGeom>
          <a:solidFill>
            <a:srgbClr val="442200"/>
          </a:solidFill>
          <a:ln w="25400">
            <a:solidFill>
              <a:srgbClr val="FFA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AA00"/>
                </a:solidFill>
                <a:latin typeface="Consolas"/>
              </a:defRPr>
            </a:pPr>
            <a:r>
              <a:t>metrics-server</a:t>
            </a:r>
            <a:br/>
            <a:r>
              <a:t>171.40.1.4:55555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0" y="1371600"/>
            <a:ext cx="1280160" cy="502920"/>
          </a:xfrm>
          <a:prstGeom prst="rect">
            <a:avLst/>
          </a:prstGeom>
          <a:solidFill>
            <a:srgbClr val="442200"/>
          </a:solidFill>
          <a:ln w="25400">
            <a:solidFill>
              <a:srgbClr val="FFA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AA00"/>
                </a:solidFill>
                <a:latin typeface="Consolas"/>
              </a:defRPr>
            </a:pPr>
            <a:r>
              <a:t>influxdb</a:t>
            </a:r>
            <a:br/>
            <a:r>
              <a:t>171.40.1.5:8086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692640" y="1371600"/>
            <a:ext cx="1280160" cy="502920"/>
          </a:xfrm>
          <a:prstGeom prst="rect">
            <a:avLst/>
          </a:prstGeom>
          <a:solidFill>
            <a:srgbClr val="442200"/>
          </a:solidFill>
          <a:ln w="25400">
            <a:solidFill>
              <a:srgbClr val="FFA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AA00"/>
                </a:solidFill>
                <a:latin typeface="Consolas"/>
              </a:defRPr>
            </a:pPr>
            <a:r>
              <a:t>grafana</a:t>
            </a:r>
            <a:br/>
            <a:r>
              <a:t>171.40.1.6:3000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0" y="2286000"/>
            <a:ext cx="1280160" cy="502920"/>
          </a:xfrm>
          <a:prstGeom prst="rect">
            <a:avLst/>
          </a:prstGeom>
          <a:solidFill>
            <a:srgbClr val="002233"/>
          </a:solidFill>
          <a:ln w="25400">
            <a:solidFill>
              <a:srgbClr val="FFA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Consolas"/>
              </a:defRPr>
            </a:pPr>
            <a:r>
              <a:t>cu0</a:t>
            </a:r>
            <a:br/>
            <a:r>
              <a:t>171.53.10.1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46720" y="2286000"/>
            <a:ext cx="1280160" cy="502920"/>
          </a:xfrm>
          <a:prstGeom prst="rect">
            <a:avLst/>
          </a:prstGeom>
          <a:solidFill>
            <a:srgbClr val="002233"/>
          </a:solidFill>
          <a:ln w="25400">
            <a:solidFill>
              <a:srgbClr val="FFA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Consolas"/>
              </a:defRPr>
            </a:pPr>
            <a:r>
              <a:t>cu1</a:t>
            </a:r>
            <a:br/>
            <a:r>
              <a:t>171.53.10.2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509760" y="2286000"/>
            <a:ext cx="1280160" cy="502920"/>
          </a:xfrm>
          <a:prstGeom prst="rect">
            <a:avLst/>
          </a:prstGeom>
          <a:solidFill>
            <a:srgbClr val="002233"/>
          </a:solidFill>
          <a:ln w="25400">
            <a:solidFill>
              <a:srgbClr val="FFA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Consolas"/>
              </a:defRPr>
            </a:pPr>
            <a:r>
              <a:t>cu2</a:t>
            </a:r>
            <a:br/>
            <a:r>
              <a:t>171.53.10.3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0" y="3200400"/>
            <a:ext cx="822960" cy="548640"/>
          </a:xfrm>
          <a:prstGeom prst="rect">
            <a:avLst/>
          </a:prstGeom>
          <a:solidFill>
            <a:srgbClr val="332200"/>
          </a:solidFill>
          <a:ln w="25400">
            <a:solidFill>
              <a:srgbClr val="FFA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1">
                <a:solidFill>
                  <a:srgbClr val="FFFFFF"/>
                </a:solidFill>
                <a:latin typeface="Consolas"/>
              </a:defRPr>
            </a:pPr>
            <a:r>
              <a:t>du0</a:t>
            </a:r>
            <a:br/>
            <a:r>
              <a:t>171.53.1.10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315200" y="3200400"/>
            <a:ext cx="822960" cy="548640"/>
          </a:xfrm>
          <a:prstGeom prst="rect">
            <a:avLst/>
          </a:prstGeom>
          <a:solidFill>
            <a:srgbClr val="332200"/>
          </a:solidFill>
          <a:ln w="25400">
            <a:solidFill>
              <a:srgbClr val="FFA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1">
                <a:solidFill>
                  <a:srgbClr val="FFFFFF"/>
                </a:solidFill>
                <a:latin typeface="Consolas"/>
              </a:defRPr>
            </a:pPr>
            <a:r>
              <a:t>du1</a:t>
            </a:r>
            <a:br/>
            <a:r>
              <a:t>171.53.1.13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229600" y="3200400"/>
            <a:ext cx="822960" cy="548640"/>
          </a:xfrm>
          <a:prstGeom prst="rect">
            <a:avLst/>
          </a:prstGeom>
          <a:solidFill>
            <a:srgbClr val="332200"/>
          </a:solidFill>
          <a:ln w="25400">
            <a:solidFill>
              <a:srgbClr val="FFA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1">
                <a:solidFill>
                  <a:srgbClr val="FFFFFF"/>
                </a:solidFill>
                <a:latin typeface="Consolas"/>
              </a:defRPr>
            </a:pPr>
            <a:r>
              <a:t>du2</a:t>
            </a:r>
            <a:br/>
            <a:r>
              <a:t>171.53.1.14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144000" y="3200400"/>
            <a:ext cx="822960" cy="548640"/>
          </a:xfrm>
          <a:prstGeom prst="rect">
            <a:avLst/>
          </a:prstGeom>
          <a:solidFill>
            <a:srgbClr val="332200"/>
          </a:solidFill>
          <a:ln w="25400">
            <a:solidFill>
              <a:srgbClr val="FFA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1">
                <a:solidFill>
                  <a:srgbClr val="FFFFFF"/>
                </a:solidFill>
                <a:latin typeface="Consolas"/>
              </a:defRPr>
            </a:pPr>
            <a:r>
              <a:t>du3</a:t>
            </a:r>
            <a:br/>
            <a:r>
              <a:t>171.53.1.16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058400" y="3200400"/>
            <a:ext cx="822960" cy="548640"/>
          </a:xfrm>
          <a:prstGeom prst="rect">
            <a:avLst/>
          </a:prstGeom>
          <a:solidFill>
            <a:srgbClr val="332200"/>
          </a:solidFill>
          <a:ln w="25400">
            <a:solidFill>
              <a:srgbClr val="FFA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1">
                <a:solidFill>
                  <a:srgbClr val="FFFFFF"/>
                </a:solidFill>
                <a:latin typeface="Consolas"/>
              </a:defRPr>
            </a:pPr>
            <a:r>
              <a:t>du4</a:t>
            </a:r>
            <a:br/>
            <a:r>
              <a:t>171.53.1.17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972800" y="3200400"/>
            <a:ext cx="822960" cy="548640"/>
          </a:xfrm>
          <a:prstGeom prst="rect">
            <a:avLst/>
          </a:prstGeom>
          <a:solidFill>
            <a:srgbClr val="332200"/>
          </a:solidFill>
          <a:ln w="25400">
            <a:solidFill>
              <a:srgbClr val="FFA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1">
                <a:solidFill>
                  <a:srgbClr val="FFFFFF"/>
                </a:solidFill>
                <a:latin typeface="Consolas"/>
              </a:defRPr>
            </a:pPr>
            <a:r>
              <a:t>du5</a:t>
            </a:r>
            <a:br/>
            <a:r>
              <a:t>171.53.1.18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0" y="4023360"/>
            <a:ext cx="5303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AAAAA"/>
                </a:solidFill>
                <a:latin typeface="Consolas"/>
              </a:defRPr>
            </a:pPr>
            <a:r>
              <a:t>Flow: DU/CU → UDP:55555 → metrics-server → influxdb → grafana</a:t>
            </a:r>
            <a:br/>
            <a:br/>
            <a:r>
              <a:t>All DU/CU containers are dual-homed:</a:t>
            </a:r>
            <a:br/>
            <a:r>
              <a:t>  eth0 = oran-intel (priority: 1000)</a:t>
            </a:r>
            <a:br/>
            <a:r>
              <a:t>  eth1 = telemetry-net (priority: 100)</a:t>
            </a:r>
            <a:br/>
            <a:br/>
            <a:r>
              <a:t>Metrics-only containers (metrics-server, influxdb, grafana)</a:t>
            </a:r>
            <a:br/>
            <a:r>
              <a:t>are on telemetry-net ONLY — isolated from data plane.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D2FF"/>
                </a:solidFill>
                <a:latin typeface="Consolas"/>
              </a:defRPr>
            </a:pPr>
            <a:r>
              <a:t>Complete IP Address Assignment Table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914400"/>
            <a:ext cx="114300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/>
            <a:pPr algn="l">
              <a:defRPr sz="1100" b="0">
                <a:solidFill>
                  <a:srgbClr val="FFFFFF"/>
                </a:solidFill>
                <a:latin typeface="Consolas"/>
              </a:defRPr>
            </a:pPr>
            <a:r>
              <a:t>Container        oran-intel (eth0)         telemetry-net (eth1)        Role</a:t>
            </a:r>
            <a:br/>
            <a:r>
              <a:t>─────────        ─────────────────         ──────────────────        ──────────────────</a:t>
            </a:r>
            <a:br/>
            <a:r>
              <a:t>5GC              175.53.1.2                -                         5G Core (AMF/UPF)</a:t>
            </a:r>
            <a:br/>
            <a:r>
              <a:t>cu0              175.53.10.1 + .1.11*      171.53.10.1               CU (gnb_id: 511)</a:t>
            </a:r>
            <a:br/>
            <a:r>
              <a:t>cu1              175.53.10.2 + .1.12*      171.53.10.2               CU (gnb_id: 512)</a:t>
            </a:r>
            <a:br/>
            <a:r>
              <a:t>cu2              175.53.10.3 + .1.15*      171.53.10.3               CU (gnb_id: 513)</a:t>
            </a:r>
            <a:br/>
            <a:r>
              <a:t>du0              175.53.1.10               171.53.1.10               DU → cu0</a:t>
            </a:r>
            <a:br/>
            <a:r>
              <a:t>du1              175.53.1.13               171.53.1.13               DU → cu0</a:t>
            </a:r>
            <a:br/>
            <a:r>
              <a:t>du2              175.53.1.14               171.53.1.14               DU → cu1</a:t>
            </a:r>
            <a:br/>
            <a:r>
              <a:t>du3              175.53.1.16               171.53.1.16               DU → cu2</a:t>
            </a:r>
            <a:br/>
            <a:r>
              <a:t>du4              175.53.1.17               171.53.1.17               DU → cu2</a:t>
            </a:r>
            <a:br/>
            <a:r>
              <a:t>du5              175.53.1.18               171.53.1.18               DU → cu2</a:t>
            </a:r>
            <a:br/>
            <a:r>
              <a:t>ue0              175.53.2.1                -                         UE → du0</a:t>
            </a:r>
            <a:br/>
            <a:r>
              <a:t>ue1              175.53.3.1                -                         UE → du1</a:t>
            </a:r>
            <a:br/>
            <a:r>
              <a:t>ue2              175.53.4.1                -                         UE → du2</a:t>
            </a:r>
            <a:br/>
            <a:r>
              <a:t>ue3              175.53.5.1                -                         UE → du3</a:t>
            </a:r>
            <a:br/>
            <a:r>
              <a:t>ue4              175.53.6.1                -                         UE → du4</a:t>
            </a:r>
            <a:br/>
            <a:r>
              <a:t>ue5              175.53.7.1                -                         UE → du5</a:t>
            </a:r>
            <a:br/>
            <a:r>
              <a:t>redis            175.24.0.1                -                         Cache</a:t>
            </a:r>
            <a:br/>
            <a:r>
              <a:t>metrics-server   -                         171.40.1.4                Metric collector</a:t>
            </a:r>
            <a:br/>
            <a:r>
              <a:t>influxdb         -                         171.40.1.5                Time-series DB</a:t>
            </a:r>
            <a:br/>
            <a:r>
              <a:t>grafana          -                         171.40.1.6                Dashboard</a:t>
            </a:r>
            <a:br/>
            <a:br/>
            <a:r>
              <a:t>* = secondary IP added via entrypoint.sh (dynamic interface detection)</a:t>
            </a:r>
            <a:b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D2FF"/>
                </a:solidFill>
                <a:latin typeface="Consolas"/>
              </a:defRPr>
            </a:pPr>
            <a:r>
              <a:t>Container Interface Assignment &amp; tc Packet Loss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914400"/>
            <a:ext cx="114300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/>
            <a:pPr algn="l">
              <a:defRPr sz="1100" b="0">
                <a:solidFill>
                  <a:srgbClr val="FFFFFF"/>
                </a:solidFill>
                <a:latin typeface="Consolas"/>
              </a:defRPr>
            </a:pPr>
            <a:r>
              <a:t>  DUAL-HOMED CONTAINER (e.g., srsdu0)</a:t>
            </a:r>
            <a:br/>
            <a:r>
              <a:t>  ┌─────────────────────────────────────────────────────────┐</a:t>
            </a:r>
            <a:br/>
            <a:r>
              <a:t>  │                                                         │</a:t>
            </a:r>
            <a:br/>
            <a:r>
              <a:t>  │   eth0 (oran-intel)              eth1 (telemetry-net)     │</a:t>
            </a:r>
            <a:br/>
            <a:r>
              <a:t>  │   IP: 175.53.1.10               IP: 171.53.1.10        │</a:t>
            </a:r>
            <a:br/>
            <a:r>
              <a:t>  │   priority: 1000 (HIGH)         priority: 100 (LOW)    │</a:t>
            </a:r>
            <a:br/>
            <a:r>
              <a:t>  │       │                               │                 │</a:t>
            </a:r>
            <a:br/>
            <a:r>
              <a:t>  │   ┌───┴────────────┐           ┌──────┴──────────┐     │</a:t>
            </a:r>
            <a:br/>
            <a:r>
              <a:t>  │   │ DATA PLANE     │           │ METRICS          │     │</a:t>
            </a:r>
            <a:br/>
            <a:r>
              <a:t>  │   │                │           │                  │     │</a:t>
            </a:r>
            <a:br/>
            <a:r>
              <a:t>  │   │ • F1AP → CU    │           │ • UDP:55555 →    │     │</a:t>
            </a:r>
            <a:br/>
            <a:r>
              <a:t>  │   │   (SCTP:38472) │           │   metrics-server │     │</a:t>
            </a:r>
            <a:br/>
            <a:r>
              <a:t>  │   │ • F1U → CU     │           │   (171.40.1.4)   │     │</a:t>
            </a:r>
            <a:br/>
            <a:r>
              <a:t>  │   │   (UDP)        │           │                  │     │</a:t>
            </a:r>
            <a:br/>
            <a:r>
              <a:t>  │   │ • ZMQ → UE     │           │ JSON metrics     │     │</a:t>
            </a:r>
            <a:br/>
            <a:r>
              <a:t>  │   │   (TCP)        │           │ every 500ms      │     │</a:t>
            </a:r>
            <a:br/>
            <a:r>
              <a:t>  │   └────────────────┘           └──────────────────┘     │</a:t>
            </a:r>
            <a:br/>
            <a:r>
              <a:t>  │                                                         │</a:t>
            </a:r>
            <a:br/>
            <a:r>
              <a:t>  │   tc qdisc replace dev eth0   ← CORRECT TARGET         │</a:t>
            </a:r>
            <a:br/>
            <a:r>
              <a:t>  │   root netem loss X%            (affects data plane)    │</a:t>
            </a:r>
            <a:br/>
            <a:r>
              <a:t>  │                                                         │</a:t>
            </a:r>
            <a:br/>
            <a:r>
              <a:t>  └─────────────────────────────────────────────────────────┘</a:t>
            </a:r>
            <a:br/>
            <a:br/>
            <a:r>
              <a:t>  WHY priority MATTERS:</a:t>
            </a:r>
            <a:br/>
            <a:r>
              <a:t>  ─────────────────────</a:t>
            </a:r>
            <a:br/>
            <a:r>
              <a:t>  Docker assigns interfaces ALPHABETICALLY by network name:</a:t>
            </a:r>
            <a:br/>
            <a:r>
              <a:t>    "telemetry-net" (m) &lt; "oran-intel" (o) → eth0 would be telemetry-net!</a:t>
            </a:r>
            <a:br/>
            <a:br/>
            <a:r>
              <a:t>  Fix: priority: 1000 on oran-intel forces it to be eth0</a:t>
            </a:r>
            <a:br/>
            <a:r>
              <a:t>       priority: 100  on telemetry-net  makes it eth1</a:t>
            </a:r>
            <a:br/>
            <a:br/>
            <a:r>
              <a:t>  This ensures:</a:t>
            </a:r>
            <a:br/>
            <a:r>
              <a:t>    • tc on eth0 = affects srsRAN data plane traffic</a:t>
            </a:r>
            <a:br/>
            <a:r>
              <a:t>    • Metrics flow on eth1 = unaffected by tc experiments</a:t>
            </a:r>
            <a:b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4444"/>
                </a:solidFill>
                <a:latin typeface="Consolas"/>
              </a:defRPr>
            </a:pPr>
            <a:r>
              <a:t>Why tc Packet Loss Does NOT Trigger HARQ in ZMQ Mode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914400"/>
            <a:ext cx="1143000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/>
            <a:pPr algn="l">
              <a:defRPr sz="1100" b="0">
                <a:solidFill>
                  <a:srgbClr val="FFFFFF"/>
                </a:solidFill>
                <a:latin typeface="Consolas"/>
              </a:defRPr>
            </a:pPr>
            <a:r>
              <a:t>  REAL 5G (over-the-air):                ZMQ SIMULATION (this setup):</a:t>
            </a:r>
            <a:br/>
            <a:br/>
            <a:r>
              <a:t>  UE         DU                          UE              DU</a:t>
            </a:r>
            <a:br/>
            <a:r>
              <a:t>  ┌────┐   ┌────┐                        ┌────┐        ┌────┐</a:t>
            </a:r>
            <a:br/>
            <a:r>
              <a:t>  │ APP│   │    │                        │ APP│        │    │</a:t>
            </a:r>
            <a:br/>
            <a:r>
              <a:t>  │ TCP│   │    │                        │ TCP│        │    │</a:t>
            </a:r>
            <a:br/>
            <a:r>
              <a:t>  │ IP │   │    │                        │ IP │        │    │</a:t>
            </a:r>
            <a:br/>
            <a:r>
              <a:t>  │PDCP│   │PDCP│                        │PDCP│        │PDCP│</a:t>
            </a:r>
            <a:br/>
            <a:r>
              <a:t>  │RLC │   │RLC │                        │RLC │        │RLC │</a:t>
            </a:r>
            <a:br/>
            <a:r>
              <a:t>  │MAC │◄─►│MAC │ ← HARQ here           │MAC │◄──────►│MAC │ ← HARQ here</a:t>
            </a:r>
            <a:br/>
            <a:r>
              <a:t>  │PHY │◄─►│PHY │                        │PHY │        │PHY │</a:t>
            </a:r>
            <a:br/>
            <a:r>
              <a:t>  └────┘   └────┘                        └──┬─┘        └──┬─┘</a:t>
            </a:r>
            <a:br/>
            <a:r>
              <a:t>     ▲ radio  ▲                              │  ZMQ(TCP)   │</a:t>
            </a:r>
            <a:br/>
            <a:r>
              <a:t>     └────────┘                              └──────┬──────┘</a:t>
            </a:r>
            <a:br/>
            <a:r>
              <a:t>   noise → CRC fail                                 │</a:t>
            </a:r>
            <a:br/>
            <a:r>
              <a:t>   → HARQ NACK                               ┌─────┴──────┐</a:t>
            </a:r>
            <a:br/>
            <a:r>
              <a:t>   → retransmit                               │ Linux net  │ ← tc operates HERE</a:t>
            </a:r>
            <a:br/>
            <a:r>
              <a:t>                                              │ (IP/TCP)   │</a:t>
            </a:r>
            <a:br/>
            <a:r>
              <a:t>                                              └────────────┘</a:t>
            </a:r>
            <a:br/>
            <a:br/>
            <a:r>
              <a:t>  PROBLEM:  tc drops IP packet</a:t>
            </a:r>
            <a:br/>
            <a:r>
              <a:t>                  ↓</a:t>
            </a:r>
            <a:br/>
            <a:r>
              <a:t>            TCP detects loss, retransmits SILENTLY</a:t>
            </a:r>
            <a:br/>
            <a:r>
              <a:t>                  ↓</a:t>
            </a:r>
            <a:br/>
            <a:r>
              <a:t>            ZMQ receives complete data</a:t>
            </a:r>
            <a:br/>
            <a:r>
              <a:t>                  ↓</a:t>
            </a:r>
            <a:br/>
            <a:r>
              <a:t>            PHY gets PERFECT IQ samples</a:t>
            </a:r>
            <a:br/>
            <a:r>
              <a:t>                  ↓</a:t>
            </a:r>
            <a:br/>
            <a:r>
              <a:t>            MAC decodes perfectly → NO HARQ needed</a:t>
            </a:r>
            <a:br/>
            <a:br/>
            <a:r>
              <a:t>  RESULT:   HARQ = 0 always in ZMQ mode regardless of tc loss</a:t>
            </a:r>
            <a:br/>
            <a:r>
              <a:t>            Bitrate keeps INCREASING (scheduler sees 0% BLER → raises MCS)</a:t>
            </a:r>
            <a:br/>
            <a:br/>
            <a:r>
              <a:t>  TO TRIGGER HARQ: Need PHY-level channel model (AWGN noise), not tc</a:t>
            </a:r>
            <a:b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FF88"/>
                </a:solidFill>
                <a:latin typeface="Consolas"/>
              </a:defRPr>
            </a:pPr>
            <a:r>
              <a:t>What tc CAN Affect: F1U (DU ↔ CU) User Plane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914400"/>
            <a:ext cx="1143000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/>
            <a:pPr algn="l">
              <a:defRPr sz="1200" b="0">
                <a:solidFill>
                  <a:srgbClr val="FFFFFF"/>
                </a:solidFill>
                <a:latin typeface="Consolas"/>
              </a:defRPr>
            </a:pPr>
            <a:r>
              <a:t>  When tc is applied on eth0 (oran-intel) of a DU container:</a:t>
            </a:r>
            <a:br/>
            <a:br/>
            <a:r>
              <a:t>  ┌────────┐         tc netem loss X%          ┌────────┐</a:t>
            </a:r>
            <a:br/>
            <a:r>
              <a:t>  │  DU    │──────── eth0 (175.x.x.x) ────────│  CU    │</a:t>
            </a:r>
            <a:br/>
            <a:r>
              <a:t>  │        │         F1U = UDP (no retx!)      │        │</a:t>
            </a:r>
            <a:br/>
            <a:r>
              <a:t>  │        │         F1AP = SCTP (has retx)    │        │</a:t>
            </a:r>
            <a:br/>
            <a:r>
              <a:t>  └────────┘                                   └────────┘</a:t>
            </a:r>
            <a:br/>
            <a:br/>
            <a:r>
              <a:t>  EFFECT ON F1U (UDP):</a:t>
            </a:r>
            <a:br/>
            <a:r>
              <a:t>  ────────────────────</a:t>
            </a:r>
            <a:br/>
            <a:r>
              <a:t>  • F1U uses UDP → NO automatic retransmission</a:t>
            </a:r>
            <a:br/>
            <a:r>
              <a:t>  • Dropped F1U packets = lost user plane data</a:t>
            </a:r>
            <a:br/>
            <a:r>
              <a:t>  • RLC layer detects gaps → RLC retransmissions increase</a:t>
            </a:r>
            <a:br/>
            <a:r>
              <a:t>  • PDCP may also trigger retransmissions</a:t>
            </a:r>
            <a:br/>
            <a:r>
              <a:t>  • Overall throughput/bitrate DECREASES</a:t>
            </a:r>
            <a:br/>
            <a:br/>
            <a:r>
              <a:t>  EFFECT ON F1AP (SCTP):</a:t>
            </a:r>
            <a:br/>
            <a:r>
              <a:t>  ──────────────────────</a:t>
            </a:r>
            <a:br/>
            <a:r>
              <a:t>  • F1AP uses SCTP → HAS retransmission</a:t>
            </a:r>
            <a:br/>
            <a:r>
              <a:t>  • Control plane messages survive tc loss (with delay)</a:t>
            </a:r>
            <a:br/>
            <a:r>
              <a:t>  • DU-CU connection stays alive</a:t>
            </a:r>
            <a:br/>
            <a:br/>
            <a:r>
              <a:t>  EFFECT ON ZMQ (DU ↔ UE):</a:t>
            </a:r>
            <a:br/>
            <a:r>
              <a:t>  ─────────────────────────</a:t>
            </a:r>
            <a:br/>
            <a:r>
              <a:t>  • ZMQ uses TCP → HAS retransmission</a:t>
            </a:r>
            <a:br/>
            <a:r>
              <a:t>  • Air interface samples survive tc loss</a:t>
            </a:r>
            <a:br/>
            <a:r>
              <a:t>  • HARQ still won't trigger (PHY sees perfect data)</a:t>
            </a:r>
            <a:br/>
            <a:br/>
            <a:r>
              <a:t>  CONCLUSION:</a:t>
            </a:r>
            <a:br/>
            <a:r>
              <a:t>  ───────────</a:t>
            </a:r>
            <a:br/>
            <a:r>
              <a:t>  tc on eth0 will cause:</a:t>
            </a:r>
            <a:br/>
            <a:r>
              <a:t>    ✓ Bitrate drop (F1U packet loss)</a:t>
            </a:r>
            <a:br/>
            <a:r>
              <a:t>    ✓ RLC retransmissions increase</a:t>
            </a:r>
            <a:br/>
            <a:r>
              <a:t>    ✗ HARQ retransmissions (still zero - ZMQ is perfect)</a:t>
            </a:r>
            <a:br/>
            <a:br/>
            <a:r>
              <a:t>  Metrics collection on eth1 remains UNAFFECTED.</a:t>
            </a:r>
            <a:b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D2FF"/>
                </a:solidFill>
                <a:latin typeface="Consolas"/>
              </a:defRPr>
            </a:pPr>
            <a:r>
              <a:t>Docker Compose File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914400"/>
            <a:ext cx="114300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/>
            <a:pPr algn="l">
              <a:defRPr sz="1200" b="0">
                <a:solidFill>
                  <a:srgbClr val="FFFFFF"/>
                </a:solidFill>
                <a:latin typeface="Consolas"/>
              </a:defRPr>
            </a:pPr>
            <a:r>
              <a:t>  ┌─────────────────────────────────────────────────────────────────────┐</a:t>
            </a:r>
            <a:br/>
            <a:r>
              <a:t>  │ docker-compose-cu++.yaml                                            │</a:t>
            </a:r>
            <a:br/>
            <a:r>
              <a:t>  │   • 5GC (open5gs)     - oran-intel only                            │</a:t>
            </a:r>
            <a:br/>
            <a:r>
              <a:t>  │   • cu0, cu1, cu2     - oran-intel (pri:1000) + telemetry-net (pri:100)│</a:t>
            </a:r>
            <a:br/>
            <a:r>
              <a:t>  │   • entrypoint.sh     - adds secondary 175.x IP (dynamic iface)   │</a:t>
            </a:r>
            <a:br/>
            <a:r>
              <a:t>  └─────────────────────────────────────────────────────────────────────┘</a:t>
            </a:r>
            <a:br/>
            <a:br/>
            <a:r>
              <a:t>  ┌─────────────────────────────────────────────────────────────────────┐</a:t>
            </a:r>
            <a:br/>
            <a:r>
              <a:t>  │ docker-compose-du.yaml                                              │</a:t>
            </a:r>
            <a:br/>
            <a:r>
              <a:t>  │   • du0-du5           - oran-intel (pri:1000) + telemetry-net (pri:100)│</a:t>
            </a:r>
            <a:br/>
            <a:r>
              <a:t>  │   • redis             - oran-intel only                            │</a:t>
            </a:r>
            <a:br/>
            <a:r>
              <a:t>  └─────────────────────────────────────────────────────────────────────┘</a:t>
            </a:r>
            <a:br/>
            <a:br/>
            <a:r>
              <a:t>  ┌─────────────────────────────────────────────────────────────────────┐</a:t>
            </a:r>
            <a:br/>
            <a:r>
              <a:t>  │ docker-compose-ue++.yaml                                            │</a:t>
            </a:r>
            <a:br/>
            <a:r>
              <a:t>  │   • ue0-ue5           - oran-intel only                            │</a:t>
            </a:r>
            <a:br/>
            <a:r>
              <a:t>  │   • metrics-server    - telemetry-net only (171.40.1.4)              │</a:t>
            </a:r>
            <a:br/>
            <a:r>
              <a:t>  │   • influxdb          - telemetry-net only (171.40.1.5)              │</a:t>
            </a:r>
            <a:br/>
            <a:r>
              <a:t>  │   • grafana           - telemetry-net only (171.40.1.6)              │</a:t>
            </a:r>
            <a:br/>
            <a:r>
              <a:t>  │   • redis             - oran-intel only                            │</a:t>
            </a:r>
            <a:br/>
            <a:r>
              <a:t>  └─────────────────────────────────────────────────────────────────────┘</a:t>
            </a:r>
            <a:br/>
            <a:br/>
            <a:r>
              <a:t>  Config files changed:</a:t>
            </a:r>
            <a:br/>
            <a:r>
              <a:t>  ─────────────────────</a:t>
            </a:r>
            <a:br/>
            <a:r>
              <a:t>  • RAN/du_zmq*.conf    → metrics addr: 171.40.1.4 (was 175.40.1.4)</a:t>
            </a:r>
            <a:br/>
            <a:r>
              <a:t>  • RAN/cu_*.yml        → metrics addr: 171.40.1.4 (was 175.40.1.4)</a:t>
            </a:r>
            <a:br/>
            <a:r>
              <a:t>  • RAN/entrypoint_*.sh → dynamic iface detection (was hardcoded eth0)</a:t>
            </a:r>
            <a:b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